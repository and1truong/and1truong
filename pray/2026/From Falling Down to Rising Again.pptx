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embeddedFontLst>
    <p:embeddedFont>
      <p:font typeface="Carlito"/>
      <p:regular r:id="rId21"/>
      <p:bold r:id="rId22"/>
      <p:italic r:id="rId23"/>
      <p:boldItalic r:id="rId24"/>
    </p:embeddedFont>
    <p:embeddedFont>
      <p:font typeface="Tino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SlLN6xJ1zuPgfz/Hod5NYenE6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Carlito-bold.fntdata"/><Relationship Id="rId21" Type="http://schemas.openxmlformats.org/officeDocument/2006/relationships/font" Target="fonts/Carlito-regular.fntdata"/><Relationship Id="rId24" Type="http://schemas.openxmlformats.org/officeDocument/2006/relationships/font" Target="fonts/Carlito-boldItalic.fntdata"/><Relationship Id="rId23" Type="http://schemas.openxmlformats.org/officeDocument/2006/relationships/font" Target="fonts/Carli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Tinos-bold.fntdata"/><Relationship Id="rId25" Type="http://schemas.openxmlformats.org/officeDocument/2006/relationships/font" Target="fonts/Tinos-regular.fntdata"/><Relationship Id="rId28" Type="http://schemas.openxmlformats.org/officeDocument/2006/relationships/font" Target="fonts/Tinos-boldItalic.fntdata"/><Relationship Id="rId27" Type="http://schemas.openxmlformats.org/officeDocument/2006/relationships/font" Target="fonts/Tinos-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Open warmly — set the devotional tone for Day One of ten days of prayer.</a:t>
            </a:r>
            <a:br>
              <a:rPr lang="en-US"/>
            </a:br>
            <a:r>
              <a:rPr lang="en-US"/>
              <a:t>- Name the hopefulness of the title: this is not just about falling, but about rising again.</a:t>
            </a:r>
            <a:br>
              <a:rPr lang="en-US"/>
            </a:br>
            <a:r>
              <a:rPr lang="en-US"/>
              <a:t>- Point to Acts 1:1–3 as the foundation we will return to throughout the talk.</a:t>
            </a:r>
            <a:br>
              <a:rPr lang="en-US"/>
            </a:br>
            <a:r>
              <a:rPr lang="en-US"/>
              <a:t>- Invite the room to listen for where Jesus is meeting them today.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Set up Paul as a familiar figure — journeys, letters, churches we still lean on.</a:t>
            </a:r>
            <a:br>
              <a:rPr lang="en-US"/>
            </a:br>
            <a:r>
              <a:rPr lang="en-US"/>
              <a:t>- Name the silence: Luke compresses more than a decade of Paul’s life into a few verses.</a:t>
            </a:r>
            <a:br>
              <a:rPr lang="en-US"/>
            </a:br>
            <a:r>
              <a:rPr lang="en-US"/>
              <a:t>- Raise the question: why did God let him disappear for so long?</a:t>
            </a:r>
            <a:br>
              <a:rPr lang="en-US"/>
            </a:br>
            <a:r>
              <a:rPr lang="en-US"/>
              <a:t>- Hint that the quiet season may have been the most formative of all.</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Land the foundation: Christ is risen, appeared for forty days, and kept teaching.</a:t>
            </a:r>
            <a:br>
              <a:rPr lang="en-US"/>
            </a:br>
            <a:r>
              <a:rPr lang="en-US"/>
              <a:t>- Connect Acts 1 to Acts 9 — the same risen Christ is still acting.</a:t>
            </a:r>
            <a:br>
              <a:rPr lang="en-US"/>
            </a:br>
            <a:r>
              <a:rPr lang="en-US"/>
              <a:t>- Frame this as the lens for everything that follows in the talk.</a:t>
            </a:r>
            <a:br>
              <a:rPr lang="en-US"/>
            </a:br>
            <a:r>
              <a:rPr lang="en-US"/>
              <a:t>- Prepare the room for the Damascus road as Christ’s continued initiative.</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Set up Saul’s religious résumé: knowledge, discipline, zeal.</a:t>
            </a:r>
            <a:br>
              <a:rPr lang="en-US"/>
            </a:br>
            <a:r>
              <a:rPr lang="en-US"/>
              <a:t>- Foreshadow the gap between knowing about God and knowing Jesus.</a:t>
            </a:r>
            <a:br>
              <a:rPr lang="en-US"/>
            </a:br>
            <a:r>
              <a:rPr lang="en-US"/>
              <a:t>- Slow the pace here — let the section title breathe before turning the page.</a:t>
            </a:r>
            <a:br>
              <a:rPr lang="en-US"/>
            </a:br>
            <a:r>
              <a:rPr lang="en-US"/>
              <a:t>- Prepare the room for Saul’s credentials on the next slide.</a:t>
            </a:r>
            <a:endParaRPr/>
          </a:p>
        </p:txBody>
      </p:sp>
      <p:sp>
        <p:nvSpPr>
          <p:cNvPr id="49" name="Google Shape;4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Walk briefly through Saul’s advantages: Scripture, discipline, zeal, mission.</a:t>
            </a:r>
            <a:br>
              <a:rPr lang="en-US"/>
            </a:br>
            <a:r>
              <a:rPr lang="en-US"/>
              <a:t>- Name the gap: he had all of it — and still did not know Jesus.</a:t>
            </a:r>
            <a:br>
              <a:rPr lang="en-US"/>
            </a:br>
            <a:r>
              <a:rPr lang="en-US"/>
              <a:t>- Hold up the Damascus letters as proof of his sincere, misdirected zeal.</a:t>
            </a:r>
            <a:br>
              <a:rPr lang="en-US"/>
            </a:br>
            <a:r>
              <a:rPr lang="en-US"/>
              <a:t>- Land the bottom line: revival begins with encounter, not more information.</a:t>
            </a:r>
            <a:br>
              <a:rPr lang="en-US"/>
            </a:br>
            <a:r>
              <a:rPr lang="en-US"/>
              <a:t>- Prepare the room for the road where that encounter will happen.</a:t>
            </a:r>
            <a:endParaRPr/>
          </a:p>
        </p:txBody>
      </p:sp>
      <p:sp>
        <p:nvSpPr>
          <p:cNvPr id="59" name="Google Shape;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Emphasise the initiative of Christ — Saul is not seeking; Jesus is.</a:t>
            </a:r>
            <a:br>
              <a:rPr lang="en-US"/>
            </a:br>
            <a:r>
              <a:rPr lang="en-US"/>
              <a:t>- Frame the Damascus road as the risen Christ still acting today.</a:t>
            </a:r>
            <a:br>
              <a:rPr lang="en-US"/>
            </a:br>
            <a:r>
              <a:rPr lang="en-US"/>
              <a:t>- Prepare the room for the voice from heaven on the next slide.</a:t>
            </a:r>
            <a:br>
              <a:rPr lang="en-US"/>
            </a:br>
            <a:r>
              <a:rPr lang="en-US"/>
              <a:t>- Slow the pace here — let the section title breathe before turning.</a:t>
            </a:r>
            <a:endParaRPr/>
          </a:p>
        </p:txBody>
      </p:sp>
      <p:sp>
        <p:nvSpPr>
          <p:cNvPr id="82" name="Google Shape;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Read the dialogue slowly — let the three voices land one after another.</a:t>
            </a:r>
            <a:br>
              <a:rPr lang="en-US"/>
            </a:br>
            <a:r>
              <a:rPr lang="en-US"/>
              <a:t>- Frame “Who are You, Lord?” as the central question of Paul’s entire life.</a:t>
            </a:r>
            <a:br>
              <a:rPr lang="en-US"/>
            </a:br>
            <a:r>
              <a:rPr lang="en-US"/>
              <a:t>- Highlight the irony: Saul thought he was fighting for God, yet was fighting God.</a:t>
            </a:r>
            <a:br>
              <a:rPr lang="en-US"/>
            </a:br>
            <a:r>
              <a:rPr lang="en-US"/>
              <a:t>- Stress that zeal and knowledge cannot replace a real relationship with Jesus.</a:t>
            </a:r>
            <a:br>
              <a:rPr lang="en-US"/>
            </a:br>
            <a:r>
              <a:rPr lang="en-US"/>
              <a:t>- Prepare the next beat — the meaning of “I am Jesus”: He is alive.</a:t>
            </a:r>
            <a:endParaRPr/>
          </a:p>
        </p:txBody>
      </p:sp>
      <p:sp>
        <p:nvSpPr>
          <p:cNvPr id="92" name="Google Shape;9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Land the phrase “Jesus is alive” with conviction — this is the heart of the slide.</a:t>
            </a:r>
            <a:br>
              <a:rPr lang="en-US"/>
            </a:br>
            <a:r>
              <a:rPr lang="en-US"/>
              <a:t>- Connect Acts 1 (forty days of appearances) directly to Acts 9 (Damascus road).</a:t>
            </a:r>
            <a:br>
              <a:rPr lang="en-US"/>
            </a:br>
            <a:r>
              <a:rPr lang="en-US"/>
              <a:t>- Stress that Acts is not just what the apostles did — it’s what the risen Christ is still doing.</a:t>
            </a:r>
            <a:br>
              <a:rPr lang="en-US"/>
            </a:br>
            <a:r>
              <a:rPr lang="en-US"/>
              <a:t>- Anchor hope in the living Jesus, not in Saul’s dramatic fall.</a:t>
            </a:r>
            <a:br>
              <a:rPr lang="en-US"/>
            </a:br>
            <a:r>
              <a:rPr lang="en-US"/>
              <a:t>- Invite the room to consider where the living Jesus is acting in their lives today.</a:t>
            </a:r>
            <a:endParaRPr/>
          </a:p>
        </p:txBody>
      </p:sp>
      <p:sp>
        <p:nvSpPr>
          <p:cNvPr id="113" name="Google Shape;1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Shift the tone from falling to rising — the story does not end on the ground.</a:t>
            </a:r>
            <a:br>
              <a:rPr lang="en-US"/>
            </a:br>
            <a:r>
              <a:rPr lang="en-US"/>
              <a:t>- Emphasise that Jesus’ initiative was redemptive, not punitive.</a:t>
            </a:r>
            <a:br>
              <a:rPr lang="en-US"/>
            </a:br>
            <a:r>
              <a:rPr lang="en-US"/>
              <a:t>- Prepare Ananias and the six movements of grace that follow.</a:t>
            </a:r>
            <a:br>
              <a:rPr lang="en-US"/>
            </a:br>
            <a:r>
              <a:rPr lang="en-US"/>
              <a:t>- Hold the pause — let the tagline land before moving on.</a:t>
            </a:r>
            <a:endParaRPr/>
          </a:p>
        </p:txBody>
      </p:sp>
      <p:sp>
        <p:nvSpPr>
          <p:cNvPr id="127" name="Google Shape;12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Name Ananias’s fear — Saul was the persecutor they had dreaded.</a:t>
            </a:r>
            <a:br>
              <a:rPr lang="en-US"/>
            </a:br>
            <a:r>
              <a:rPr lang="en-US"/>
              <a:t>- Highlight Jesus’ vision of who Saul would become, not who he had been.</a:t>
            </a:r>
            <a:br>
              <a:rPr lang="en-US"/>
            </a:br>
            <a:r>
              <a:rPr lang="en-US"/>
              <a:t>- Read “Brother Saul” slowly — grace re-naming the enemy.</a:t>
            </a:r>
            <a:br>
              <a:rPr lang="en-US"/>
            </a:br>
            <a:r>
              <a:rPr lang="en-US"/>
              <a:t>- Note the sequence: sight, baptism, food, strength — full restoration.</a:t>
            </a:r>
            <a:br>
              <a:rPr lang="en-US"/>
            </a:br>
            <a:r>
              <a:rPr lang="en-US"/>
              <a:t>- Bridge into the six movements of grace that follow.</a:t>
            </a:r>
            <a:endParaRPr/>
          </a:p>
        </p:txBody>
      </p:sp>
      <p:sp>
        <p:nvSpPr>
          <p:cNvPr id="137" name="Google Shape;1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Walk the six movements briefly — meeting, naming, sending, restoring, welcoming, sending-out.</a:t>
            </a:r>
            <a:br>
              <a:rPr lang="en-US"/>
            </a:br>
            <a:r>
              <a:rPr lang="en-US"/>
              <a:t>- Emphasise the arc: from confrontation on the road to commission within the church.</a:t>
            </a:r>
            <a:br>
              <a:rPr lang="en-US"/>
            </a:br>
            <a:r>
              <a:rPr lang="en-US"/>
              <a:t>- Land hard on the closing line — transformation, not just forgiveness or behaviour-modification.</a:t>
            </a:r>
            <a:br>
              <a:rPr lang="en-US"/>
            </a:br>
            <a:r>
              <a:rPr lang="en-US"/>
              <a:t>- Frame the six movements as a pattern Jesus still follows today.</a:t>
            </a:r>
            <a:br>
              <a:rPr lang="en-US"/>
            </a:br>
            <a:r>
              <a:rPr lang="en-US"/>
              <a:t>- Bridge to the silent years — God worked in Paul before working through Paul.</a:t>
            </a:r>
            <a:endParaRPr/>
          </a:p>
        </p:txBody>
      </p:sp>
      <p:sp>
        <p:nvSpPr>
          <p:cNvPr id="149" name="Google Shape;1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Name the silent years: between Acts 9 (called) and Acts 13 (sent) many years pass.</a:t>
            </a:r>
            <a:br>
              <a:rPr lang="en-US"/>
            </a:br>
            <a:r>
              <a:rPr lang="en-US"/>
              <a:t> - God did not just use Paul; He first worked in Paul — formation before deployment.</a:t>
            </a:r>
            <a:br>
              <a:rPr lang="en-US"/>
            </a:br>
            <a:r>
              <a:rPr lang="en-US"/>
              <a:t> - Walk the four nodes briefly: Damascus → years → Barnabas → Antioch sending.</a:t>
            </a:r>
            <a:br>
              <a:rPr lang="en-US"/>
            </a:br>
            <a:r>
              <a:rPr lang="en-US"/>
              <a:t> - Land on Acts 13:2 — the Spirit speaks while the church worships, fasts, and prays.</a:t>
            </a:r>
            <a:br>
              <a:rPr lang="en-US"/>
            </a:br>
            <a:r>
              <a:rPr lang="en-US"/>
              <a:t> - Close: God cared about who Paul would become, not just what Paul would do.</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is the final movement: the pattern of meeting-and-transforming is not unique to Paul.</a:t>
            </a:r>
            <a:br>
              <a:rPr lang="en-US"/>
            </a:br>
            <a:r>
              <a:rPr lang="en-US"/>
              <a:t> - Set up four cross-witnesses — Moses, Peter, Elijah, Ephesus — coming next.</a:t>
            </a:r>
            <a:br>
              <a:rPr lang="en-US"/>
            </a:br>
            <a:r>
              <a:rPr lang="en-US"/>
              <a:t> - Frame these as confirmation, not theory: Scripture keeps showing the same heart of God.</a:t>
            </a:r>
            <a:br>
              <a:rPr lang="en-US"/>
            </a:br>
            <a:r>
              <a:rPr lang="en-US"/>
              <a:t> - Keep tone warm and inviting — we are entering application territory.</a:t>
            </a:r>
            <a:endParaRPr/>
          </a:p>
        </p:txBody>
      </p:sp>
      <p:sp>
        <p:nvSpPr>
          <p:cNvPr id="201" name="Google Shape;20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Moses — wilderness formed dependence before deliverance.</a:t>
            </a:r>
            <a:br>
              <a:rPr lang="en-US"/>
            </a:br>
            <a:r>
              <a:rPr lang="en-US"/>
              <a:t> - Peter — love was real, but self-strength had to break before restoration and entrustment.</a:t>
            </a:r>
            <a:br>
              <a:rPr lang="en-US"/>
            </a:br>
            <a:r>
              <a:rPr lang="en-US"/>
              <a:t> - Elijah — God meets us in post-victory exhaustion with care and a next step.</a:t>
            </a:r>
            <a:br>
              <a:rPr lang="en-US"/>
            </a:br>
            <a:r>
              <a:rPr lang="en-US"/>
              <a:t> - Ephesus — labor without first love is the warning Jesus still speaks.</a:t>
            </a:r>
            <a:br>
              <a:rPr lang="en-US"/>
            </a:br>
            <a:r>
              <a:rPr lang="en-US"/>
              <a:t> - Land on the shared truth and prepare John 15:5 as the central verse.</a:t>
            </a:r>
            <a:endParaRPr/>
          </a:p>
        </p:txBody>
      </p:sp>
      <p:sp>
        <p:nvSpPr>
          <p:cNvPr id="211" name="Google Shape;21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Read the verse slowly; let “apart from Me you can do nothing” land in the accent color.</a:t>
            </a:r>
            <a:br>
              <a:rPr lang="en-US"/>
            </a:br>
            <a:r>
              <a:rPr lang="en-US"/>
              <a:t> - Frame the branch: fruit comes from remaining, not from straining.</a:t>
            </a:r>
            <a:br>
              <a:rPr lang="en-US"/>
            </a:br>
            <a:r>
              <a:rPr lang="en-US"/>
              <a:t> - Name what cannot replace abiding: knowledge, activity, even past encounters.</a:t>
            </a:r>
            <a:br>
              <a:rPr lang="en-US"/>
            </a:br>
            <a:r>
              <a:rPr lang="en-US"/>
              <a:t> - Walk the three present-tense ways Jesus meets us: Word, Spirit, Church.</a:t>
            </a:r>
            <a:br>
              <a:rPr lang="en-US"/>
            </a:br>
            <a:r>
              <a:rPr lang="en-US"/>
              <a:t> - Invite the room to identify which of the three they most need to lean into today.</a:t>
            </a:r>
            <a:endParaRPr/>
          </a:p>
        </p:txBody>
      </p:sp>
      <p:sp>
        <p:nvSpPr>
          <p:cNvPr id="236" name="Google Shape;23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Walk the four invitations slowly; pause after each.</a:t>
            </a:r>
            <a:br>
              <a:rPr lang="en-US"/>
            </a:br>
            <a:r>
              <a:rPr lang="en-US"/>
              <a:t> - I — certainty can deafen us; invite a re-listening.</a:t>
            </a:r>
            <a:br>
              <a:rPr lang="en-US"/>
            </a:br>
            <a:r>
              <a:rPr lang="en-US"/>
              <a:t> - II — failure is not the end; it is where self-confidence breaks.</a:t>
            </a:r>
            <a:br>
              <a:rPr lang="en-US"/>
            </a:br>
            <a:r>
              <a:rPr lang="en-US"/>
              <a:t> - III — name the Ananiases in the room; we are sent to one another.</a:t>
            </a:r>
            <a:br>
              <a:rPr lang="en-US"/>
            </a:br>
            <a:r>
              <a:rPr lang="en-US"/>
              <a:t> - IV — warn against service that has cooled into routine.</a:t>
            </a:r>
            <a:br>
              <a:rPr lang="en-US"/>
            </a:br>
            <a:r>
              <a:rPr lang="en-US"/>
              <a:t> - Ask the two parallel questions, then lead the room into prayer.</a:t>
            </a:r>
            <a:endParaRPr/>
          </a:p>
        </p:txBody>
      </p:sp>
      <p:sp>
        <p:nvSpPr>
          <p:cNvPr id="256" name="Google Shape;25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571500" y="1442479"/>
            <a:ext cx="5965988"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DAY ONE · TEN DAYS OF PRAYER</a:t>
            </a:r>
            <a:endParaRPr b="0" i="0" sz="800" u="none" cap="none" strike="noStrike">
              <a:solidFill>
                <a:schemeClr val="dk1"/>
              </a:solidFill>
              <a:latin typeface="Calibri"/>
              <a:ea typeface="Calibri"/>
              <a:cs typeface="Calibri"/>
              <a:sym typeface="Calibri"/>
            </a:endParaRPr>
          </a:p>
        </p:txBody>
      </p:sp>
      <p:sp>
        <p:nvSpPr>
          <p:cNvPr id="17" name="Google Shape;17;p1"/>
          <p:cNvSpPr/>
          <p:nvPr/>
        </p:nvSpPr>
        <p:spPr>
          <a:xfrm>
            <a:off x="571500" y="1828242"/>
            <a:ext cx="5104589" cy="1266507"/>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A1A1A"/>
              </a:buClr>
              <a:buSzPts val="4275"/>
              <a:buFont typeface="Tinos"/>
              <a:buNone/>
            </a:pPr>
            <a:r>
              <a:rPr b="0" i="0" lang="en-US" sz="4275" u="none" cap="none" strike="noStrike">
                <a:solidFill>
                  <a:srgbClr val="1A1A1A"/>
                </a:solidFill>
                <a:latin typeface="Tinos"/>
                <a:ea typeface="Tinos"/>
                <a:cs typeface="Tinos"/>
                <a:sym typeface="Tinos"/>
              </a:rPr>
              <a:t>From </a:t>
            </a:r>
            <a:r>
              <a:rPr b="0" i="1" lang="en-US" sz="4275" u="none" cap="none" strike="noStrike">
                <a:solidFill>
                  <a:srgbClr val="1A1A1A"/>
                </a:solidFill>
                <a:latin typeface="Tinos"/>
                <a:ea typeface="Tinos"/>
                <a:cs typeface="Tinos"/>
                <a:sym typeface="Tinos"/>
              </a:rPr>
              <a:t>Falling</a:t>
            </a:r>
            <a:r>
              <a:rPr b="0" i="0" lang="en-US" sz="4275" u="none" cap="none" strike="noStrike">
                <a:solidFill>
                  <a:srgbClr val="1A1A1A"/>
                </a:solidFill>
                <a:latin typeface="Tinos"/>
                <a:ea typeface="Tinos"/>
                <a:cs typeface="Tinos"/>
                <a:sym typeface="Tinos"/>
              </a:rPr>
              <a:t> Down</a:t>
            </a:r>
            <a:endParaRPr b="0" i="0" sz="4275"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1A1A1A"/>
              </a:buClr>
              <a:buSzPts val="4275"/>
              <a:buFont typeface="Tinos"/>
              <a:buNone/>
            </a:pPr>
            <a:r>
              <a:rPr b="0" i="0" lang="en-US" sz="4275" u="none" cap="none" strike="noStrike">
                <a:solidFill>
                  <a:srgbClr val="1A1A1A"/>
                </a:solidFill>
                <a:latin typeface="Tinos"/>
                <a:ea typeface="Tinos"/>
                <a:cs typeface="Tinos"/>
                <a:sym typeface="Tinos"/>
              </a:rPr>
              <a:t>to </a:t>
            </a:r>
            <a:r>
              <a:rPr b="0" i="1" lang="en-US" sz="4275" u="none" cap="none" strike="noStrike">
                <a:solidFill>
                  <a:srgbClr val="1A1A1A"/>
                </a:solidFill>
                <a:latin typeface="Tinos"/>
                <a:ea typeface="Tinos"/>
                <a:cs typeface="Tinos"/>
                <a:sym typeface="Tinos"/>
              </a:rPr>
              <a:t>Rising</a:t>
            </a:r>
            <a:r>
              <a:rPr b="0" i="0" lang="en-US" sz="4275" u="none" cap="none" strike="noStrike">
                <a:solidFill>
                  <a:srgbClr val="1A1A1A"/>
                </a:solidFill>
                <a:latin typeface="Tinos"/>
                <a:ea typeface="Tinos"/>
                <a:cs typeface="Tinos"/>
                <a:sym typeface="Tinos"/>
              </a:rPr>
              <a:t> Again</a:t>
            </a:r>
            <a:endParaRPr b="0" i="0" sz="4275" u="none" cap="none" strike="noStrike">
              <a:solidFill>
                <a:schemeClr val="dk1"/>
              </a:solidFill>
              <a:latin typeface="Calibri"/>
              <a:ea typeface="Calibri"/>
              <a:cs typeface="Calibri"/>
              <a:sym typeface="Calibri"/>
            </a:endParaRPr>
          </a:p>
        </p:txBody>
      </p:sp>
      <p:sp>
        <p:nvSpPr>
          <p:cNvPr id="18" name="Google Shape;18;p1"/>
          <p:cNvSpPr/>
          <p:nvPr/>
        </p:nvSpPr>
        <p:spPr>
          <a:xfrm>
            <a:off x="571500" y="3286683"/>
            <a:ext cx="342900" cy="21431"/>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571500" y="3508139"/>
            <a:ext cx="5011778" cy="208312"/>
          </a:xfrm>
          <a:prstGeom prst="rect">
            <a:avLst/>
          </a:prstGeom>
          <a:noFill/>
          <a:ln>
            <a:noFill/>
          </a:ln>
        </p:spPr>
        <p:txBody>
          <a:bodyPr anchorCtr="0" anchor="t" bIns="0" lIns="0" spcFirstLastPara="1" rIns="0" wrap="square" tIns="0">
            <a:noAutofit/>
          </a:bodyPr>
          <a:lstStyle/>
          <a:p>
            <a:pPr indent="0" lvl="0" marL="0" marR="0" rtl="0" algn="l">
              <a:lnSpc>
                <a:spcPct val="149950"/>
              </a:lnSpc>
              <a:spcBef>
                <a:spcPts val="0"/>
              </a:spcBef>
              <a:spcAft>
                <a:spcPts val="0"/>
              </a:spcAft>
              <a:buClr>
                <a:srgbClr val="6B7280"/>
              </a:buClr>
              <a:buSzPts val="1013"/>
              <a:buFont typeface="Carlito"/>
              <a:buNone/>
            </a:pPr>
            <a:r>
              <a:rPr b="0" i="0" lang="en-US" sz="1013" u="none" cap="none" strike="noStrike">
                <a:solidFill>
                  <a:srgbClr val="6B7280"/>
                </a:solidFill>
                <a:latin typeface="Carlito"/>
                <a:ea typeface="Carlito"/>
                <a:cs typeface="Carlito"/>
                <a:sym typeface="Carlito"/>
              </a:rPr>
              <a:t>A meditation on Acts 1:1–3, Acts 9, and John 15:5</a:t>
            </a:r>
            <a:endParaRPr b="0" i="0" sz="1013" u="none" cap="none" strike="noStrike">
              <a:solidFill>
                <a:schemeClr val="dk1"/>
              </a:solidFill>
              <a:latin typeface="Calibri"/>
              <a:ea typeface="Calibri"/>
              <a:cs typeface="Calibri"/>
              <a:sym typeface="Calibri"/>
            </a:endParaRPr>
          </a:p>
        </p:txBody>
      </p:sp>
      <p:pic>
        <p:nvPicPr>
          <p:cNvPr descr="/tmp/h2p-fit-1786256114701-vhido1.png" id="20" name="Google Shape;20;p1"/>
          <p:cNvPicPr preferRelativeResize="0"/>
          <p:nvPr/>
        </p:nvPicPr>
        <p:blipFill rotWithShape="1">
          <a:blip r:embed="rId3">
            <a:alphaModFix/>
          </a:blip>
          <a:srcRect b="0" l="0" r="0" t="0"/>
          <a:stretch/>
        </p:blipFill>
        <p:spPr>
          <a:xfrm>
            <a:off x="5669235" y="0"/>
            <a:ext cx="3474653" cy="5143500"/>
          </a:xfrm>
          <a:prstGeom prst="rect">
            <a:avLst/>
          </a:prstGeom>
          <a:noFill/>
          <a:ln>
            <a:noFill/>
          </a:ln>
        </p:spPr>
      </p:pic>
      <p:pic>
        <p:nvPicPr>
          <p:cNvPr descr="preencoded.png" id="21" name="Google Shape;21;p1"/>
          <p:cNvPicPr preferRelativeResize="0"/>
          <p:nvPr/>
        </p:nvPicPr>
        <p:blipFill rotWithShape="1">
          <a:blip r:embed="rId4">
            <a:alphaModFix/>
          </a:blip>
          <a:srcRect b="0" l="0" r="0" t="0"/>
          <a:stretch/>
        </p:blipFill>
        <p:spPr>
          <a:xfrm>
            <a:off x="5669235" y="0"/>
            <a:ext cx="3474653"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400050" y="937617"/>
            <a:ext cx="6600227"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OPENING</a:t>
            </a:r>
            <a:endParaRPr b="0" i="0" sz="800" u="none" cap="none" strike="noStrike">
              <a:solidFill>
                <a:schemeClr val="dk1"/>
              </a:solidFill>
              <a:latin typeface="Calibri"/>
              <a:ea typeface="Calibri"/>
              <a:cs typeface="Calibri"/>
              <a:sym typeface="Calibri"/>
            </a:endParaRPr>
          </a:p>
        </p:txBody>
      </p:sp>
      <p:sp>
        <p:nvSpPr>
          <p:cNvPr id="28" name="Google Shape;28;p2"/>
          <p:cNvSpPr/>
          <p:nvPr/>
        </p:nvSpPr>
        <p:spPr>
          <a:xfrm>
            <a:off x="400050" y="1266230"/>
            <a:ext cx="3857625" cy="7406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250"/>
              <a:buFont typeface="Tinos"/>
              <a:buNone/>
            </a:pPr>
            <a:r>
              <a:rPr b="0" i="1" lang="en-US" sz="2250" u="none" cap="none" strike="noStrike">
                <a:solidFill>
                  <a:srgbClr val="1A1A1A"/>
                </a:solidFill>
                <a:latin typeface="Tinos"/>
                <a:ea typeface="Tinos"/>
                <a:cs typeface="Tinos"/>
                <a:sym typeface="Tinos"/>
              </a:rPr>
              <a:t>The part of Paul’s story we often miss.</a:t>
            </a:r>
            <a:endParaRPr b="0" i="0" sz="2250" u="none" cap="none" strike="noStrike">
              <a:solidFill>
                <a:schemeClr val="dk1"/>
              </a:solidFill>
              <a:latin typeface="Calibri"/>
              <a:ea typeface="Calibri"/>
              <a:cs typeface="Calibri"/>
              <a:sym typeface="Calibri"/>
            </a:endParaRPr>
          </a:p>
        </p:txBody>
      </p:sp>
      <p:sp>
        <p:nvSpPr>
          <p:cNvPr id="29" name="Google Shape;29;p2"/>
          <p:cNvSpPr/>
          <p:nvPr/>
        </p:nvSpPr>
        <p:spPr>
          <a:xfrm>
            <a:off x="400050" y="2152055"/>
            <a:ext cx="257175" cy="14288"/>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 name="Google Shape;30;p2"/>
          <p:cNvSpPr/>
          <p:nvPr/>
        </p:nvSpPr>
        <p:spPr>
          <a:xfrm>
            <a:off x="400050" y="2366367"/>
            <a:ext cx="3857625" cy="419517"/>
          </a:xfrm>
          <a:prstGeom prst="rect">
            <a:avLst/>
          </a:prstGeom>
          <a:noFill/>
          <a:ln>
            <a:noFill/>
          </a:ln>
        </p:spPr>
        <p:txBody>
          <a:bodyPr anchorCtr="0" anchor="t" bIns="0" lIns="0" spcFirstLastPara="1" rIns="0" wrap="square" tIns="0">
            <a:noAutofit/>
          </a:bodyPr>
          <a:lstStyle/>
          <a:p>
            <a:pPr indent="0" lvl="0" marL="0" marR="0" rtl="0" algn="l">
              <a:lnSpc>
                <a:spcPct val="170000"/>
              </a:lnSpc>
              <a:spcBef>
                <a:spcPts val="0"/>
              </a:spcBef>
              <a:spcAft>
                <a:spcPts val="0"/>
              </a:spcAft>
              <a:buClr>
                <a:srgbClr val="1A1A1A"/>
              </a:buClr>
              <a:buSzPts val="900"/>
              <a:buFont typeface="Carlito"/>
              <a:buNone/>
            </a:pPr>
            <a:r>
              <a:rPr b="0" i="0" lang="en-US" sz="900" u="none" cap="none" strike="noStrike">
                <a:solidFill>
                  <a:srgbClr val="1A1A1A"/>
                </a:solidFill>
                <a:latin typeface="Carlito"/>
                <a:ea typeface="Carlito"/>
                <a:cs typeface="Carlito"/>
                <a:sym typeface="Carlito"/>
              </a:rPr>
              <a:t>You know Paul: his journeys, churches, letters, and suffering for Christ. Two thousand years later, his ministry still builds us up.</a:t>
            </a:r>
            <a:endParaRPr b="0" i="0" sz="900" u="none" cap="none" strike="noStrike">
              <a:solidFill>
                <a:schemeClr val="dk1"/>
              </a:solidFill>
              <a:latin typeface="Calibri"/>
              <a:ea typeface="Calibri"/>
              <a:cs typeface="Calibri"/>
              <a:sym typeface="Calibri"/>
            </a:endParaRPr>
          </a:p>
        </p:txBody>
      </p:sp>
      <p:sp>
        <p:nvSpPr>
          <p:cNvPr id="31" name="Google Shape;31;p2"/>
          <p:cNvSpPr/>
          <p:nvPr/>
        </p:nvSpPr>
        <p:spPr>
          <a:xfrm>
            <a:off x="400050" y="2897684"/>
            <a:ext cx="3857625" cy="629275"/>
          </a:xfrm>
          <a:prstGeom prst="rect">
            <a:avLst/>
          </a:prstGeom>
          <a:noFill/>
          <a:ln>
            <a:noFill/>
          </a:ln>
        </p:spPr>
        <p:txBody>
          <a:bodyPr anchorCtr="0" anchor="t" bIns="0" lIns="0" spcFirstLastPara="1" rIns="0" wrap="square" tIns="0">
            <a:noAutofit/>
          </a:bodyPr>
          <a:lstStyle/>
          <a:p>
            <a:pPr indent="0" lvl="0" marL="0" marR="0" rtl="0" algn="l">
              <a:lnSpc>
                <a:spcPct val="170000"/>
              </a:lnSpc>
              <a:spcBef>
                <a:spcPts val="0"/>
              </a:spcBef>
              <a:spcAft>
                <a:spcPts val="0"/>
              </a:spcAft>
              <a:buClr>
                <a:srgbClr val="1A1A1A"/>
              </a:buClr>
              <a:buSzPts val="900"/>
              <a:buFont typeface="Carlito"/>
              <a:buNone/>
            </a:pPr>
            <a:r>
              <a:rPr b="0" i="0" lang="en-US" sz="900" u="none" cap="none" strike="noStrike">
                <a:solidFill>
                  <a:srgbClr val="1A1A1A"/>
                </a:solidFill>
                <a:latin typeface="Carlito"/>
                <a:ea typeface="Carlito"/>
                <a:cs typeface="Carlito"/>
                <a:sym typeface="Carlito"/>
              </a:rPr>
              <a:t>But one part is often missed. In Jerusalem, Paul preached and debated; opposition erupted, people sought to kill him, and believers sent him to Tarsus. Luke then records that the church enjoyed peace.</a:t>
            </a:r>
            <a:endParaRPr b="0" i="0" sz="900" u="none" cap="none" strike="noStrike">
              <a:solidFill>
                <a:schemeClr val="dk1"/>
              </a:solidFill>
              <a:latin typeface="Calibri"/>
              <a:ea typeface="Calibri"/>
              <a:cs typeface="Calibri"/>
              <a:sym typeface="Calibri"/>
            </a:endParaRPr>
          </a:p>
        </p:txBody>
      </p:sp>
      <p:sp>
        <p:nvSpPr>
          <p:cNvPr id="32" name="Google Shape;32;p2"/>
          <p:cNvSpPr/>
          <p:nvPr/>
        </p:nvSpPr>
        <p:spPr>
          <a:xfrm>
            <a:off x="400050" y="3623221"/>
            <a:ext cx="3857625" cy="629275"/>
          </a:xfrm>
          <a:prstGeom prst="rect">
            <a:avLst/>
          </a:prstGeom>
          <a:noFill/>
          <a:ln>
            <a:noFill/>
          </a:ln>
        </p:spPr>
        <p:txBody>
          <a:bodyPr anchorCtr="0" anchor="t" bIns="0" lIns="0" spcFirstLastPara="1" rIns="0" wrap="square" tIns="0">
            <a:noAutofit/>
          </a:bodyPr>
          <a:lstStyle/>
          <a:p>
            <a:pPr indent="0" lvl="0" marL="0" marR="0" rtl="0" algn="l">
              <a:lnSpc>
                <a:spcPct val="170000"/>
              </a:lnSpc>
              <a:spcBef>
                <a:spcPts val="0"/>
              </a:spcBef>
              <a:spcAft>
                <a:spcPts val="0"/>
              </a:spcAft>
              <a:buClr>
                <a:srgbClr val="6B7280"/>
              </a:buClr>
              <a:buSzPts val="900"/>
              <a:buFont typeface="Carlito"/>
              <a:buNone/>
            </a:pPr>
            <a:r>
              <a:rPr b="0" i="1" lang="en-US" sz="900" u="none" cap="none" strike="noStrike">
                <a:solidFill>
                  <a:srgbClr val="6B7280"/>
                </a:solidFill>
                <a:latin typeface="Carlito"/>
                <a:ea typeface="Carlito"/>
                <a:cs typeface="Carlito"/>
                <a:sym typeface="Carlito"/>
              </a:rPr>
              <a:t>Saul then almost disappears from Acts. More than a decade of his life is compressed into a few verses. Surprisingly, that quiet season may have been the most important in shaping Paul — and us through his ministry.</a:t>
            </a:r>
            <a:endParaRPr b="0" i="0" sz="900" u="none" cap="none" strike="noStrike">
              <a:solidFill>
                <a:schemeClr val="dk1"/>
              </a:solidFill>
              <a:latin typeface="Calibri"/>
              <a:ea typeface="Calibri"/>
              <a:cs typeface="Calibri"/>
              <a:sym typeface="Calibri"/>
            </a:endParaRPr>
          </a:p>
        </p:txBody>
      </p:sp>
      <p:pic>
        <p:nvPicPr>
          <p:cNvPr descr="/tmp/h2p-fit-1786256114675-495ypx.png" id="33" name="Google Shape;33;p2"/>
          <p:cNvPicPr preferRelativeResize="0"/>
          <p:nvPr/>
        </p:nvPicPr>
        <p:blipFill rotWithShape="1">
          <a:blip r:embed="rId3">
            <a:alphaModFix/>
          </a:blip>
          <a:srcRect b="0" l="0" r="0" t="0"/>
          <a:stretch/>
        </p:blipFill>
        <p:spPr>
          <a:xfrm>
            <a:off x="5303453" y="0"/>
            <a:ext cx="3840435" cy="5143500"/>
          </a:xfrm>
          <a:prstGeom prst="rect">
            <a:avLst/>
          </a:prstGeom>
          <a:noFill/>
          <a:ln>
            <a:noFill/>
          </a:ln>
        </p:spPr>
      </p:pic>
      <p:pic>
        <p:nvPicPr>
          <p:cNvPr descr="preencoded.png" id="34" name="Google Shape;34;p2"/>
          <p:cNvPicPr preferRelativeResize="0"/>
          <p:nvPr/>
        </p:nvPicPr>
        <p:blipFill rotWithShape="1">
          <a:blip r:embed="rId4">
            <a:alphaModFix/>
          </a:blip>
          <a:srcRect b="0" l="0" r="0" t="0"/>
          <a:stretch/>
        </p:blipFill>
        <p:spPr>
          <a:xfrm>
            <a:off x="5303453" y="0"/>
            <a:ext cx="384043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3"/>
          <p:cNvSpPr/>
          <p:nvPr/>
        </p:nvSpPr>
        <p:spPr>
          <a:xfrm>
            <a:off x="857250" y="1293019"/>
            <a:ext cx="82867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THE FOUNDATION · ACTS 1:1–3</a:t>
            </a:r>
            <a:endParaRPr b="0" i="0" sz="800" u="none" cap="none" strike="noStrike">
              <a:solidFill>
                <a:schemeClr val="dk1"/>
              </a:solidFill>
              <a:latin typeface="Calibri"/>
              <a:ea typeface="Calibri"/>
              <a:cs typeface="Calibri"/>
              <a:sym typeface="Calibri"/>
            </a:endParaRPr>
          </a:p>
        </p:txBody>
      </p:sp>
      <p:sp>
        <p:nvSpPr>
          <p:cNvPr id="41" name="Google Shape;41;p3"/>
          <p:cNvSpPr/>
          <p:nvPr/>
        </p:nvSpPr>
        <p:spPr>
          <a:xfrm>
            <a:off x="857250" y="1693069"/>
            <a:ext cx="21431" cy="571500"/>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 name="Google Shape;42;p3"/>
          <p:cNvSpPr/>
          <p:nvPr/>
        </p:nvSpPr>
        <p:spPr>
          <a:xfrm>
            <a:off x="1078706" y="1650206"/>
            <a:ext cx="6715125" cy="1051685"/>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Clr>
                <a:srgbClr val="1A1A1A"/>
              </a:buClr>
              <a:buSzPts val="1800"/>
              <a:buFont typeface="Tinos"/>
              <a:buNone/>
            </a:pPr>
            <a:r>
              <a:rPr b="0" i="1" lang="en-US" sz="1800" u="none" cap="none" strike="noStrike">
                <a:solidFill>
                  <a:srgbClr val="1A1A1A"/>
                </a:solidFill>
                <a:latin typeface="Tinos"/>
                <a:ea typeface="Tinos"/>
                <a:cs typeface="Tinos"/>
                <a:sym typeface="Tinos"/>
              </a:rPr>
              <a:t>“After His suffering, He presented Himself to them and gave many convincing proofs that He was alive. He appeared to them over a period of forty days and spoke about the kingdom of God.”</a:t>
            </a:r>
            <a:endParaRPr b="0" i="0" sz="1800" u="none" cap="none" strike="noStrike">
              <a:solidFill>
                <a:schemeClr val="dk1"/>
              </a:solidFill>
              <a:latin typeface="Calibri"/>
              <a:ea typeface="Calibri"/>
              <a:cs typeface="Calibri"/>
              <a:sym typeface="Calibri"/>
            </a:endParaRPr>
          </a:p>
        </p:txBody>
      </p:sp>
      <p:sp>
        <p:nvSpPr>
          <p:cNvPr id="43" name="Google Shape;43;p3"/>
          <p:cNvSpPr/>
          <p:nvPr/>
        </p:nvSpPr>
        <p:spPr>
          <a:xfrm>
            <a:off x="1078706" y="2766864"/>
            <a:ext cx="8065294"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6B7280"/>
              </a:buClr>
              <a:buSzPts val="800"/>
              <a:buFont typeface="Arial"/>
              <a:buNone/>
            </a:pPr>
            <a:r>
              <a:rPr b="0" i="0" lang="en-US" sz="800" u="none" cap="none" strike="noStrike">
                <a:solidFill>
                  <a:srgbClr val="6B7280"/>
                </a:solidFill>
                <a:latin typeface="Arial"/>
                <a:ea typeface="Arial"/>
                <a:cs typeface="Arial"/>
                <a:sym typeface="Arial"/>
              </a:rPr>
              <a:t>ACTS 1:3</a:t>
            </a:r>
            <a:endParaRPr b="0" i="0" sz="800" u="none" cap="none" strike="noStrike">
              <a:solidFill>
                <a:schemeClr val="dk1"/>
              </a:solidFill>
              <a:latin typeface="Calibri"/>
              <a:ea typeface="Calibri"/>
              <a:cs typeface="Calibri"/>
              <a:sym typeface="Calibri"/>
            </a:endParaRPr>
          </a:p>
        </p:txBody>
      </p:sp>
      <p:sp>
        <p:nvSpPr>
          <p:cNvPr id="44" name="Google Shape;44;p3"/>
          <p:cNvSpPr/>
          <p:nvPr/>
        </p:nvSpPr>
        <p:spPr>
          <a:xfrm>
            <a:off x="857250" y="3163342"/>
            <a:ext cx="6572250" cy="445797"/>
          </a:xfrm>
          <a:prstGeom prst="rect">
            <a:avLst/>
          </a:prstGeom>
          <a:noFill/>
          <a:ln>
            <a:noFill/>
          </a:ln>
        </p:spPr>
        <p:txBody>
          <a:bodyPr anchorCtr="0" anchor="t" bIns="0" lIns="0" spcFirstLastPara="1" rIns="0" wrap="square" tIns="0">
            <a:noAutofit/>
          </a:bodyPr>
          <a:lstStyle/>
          <a:p>
            <a:pPr indent="0" lvl="0" marL="0" marR="0" rtl="0" algn="l">
              <a:lnSpc>
                <a:spcPct val="170083"/>
              </a:lnSpc>
              <a:spcBef>
                <a:spcPts val="0"/>
              </a:spcBef>
              <a:spcAft>
                <a:spcPts val="0"/>
              </a:spcAft>
              <a:buClr>
                <a:srgbClr val="1A1A1A"/>
              </a:buClr>
              <a:buSzPts val="956"/>
              <a:buFont typeface="Carlito"/>
              <a:buNone/>
            </a:pPr>
            <a:r>
              <a:rPr b="0" i="0" lang="en-US" sz="956" u="none" cap="none" strike="noStrike">
                <a:solidFill>
                  <a:srgbClr val="1A1A1A"/>
                </a:solidFill>
                <a:latin typeface="Carlito"/>
                <a:ea typeface="Carlito"/>
                <a:cs typeface="Carlito"/>
                <a:sym typeface="Carlito"/>
              </a:rPr>
              <a:t>Acts 1:1–3 establishes this truth as the foundation of everything we will see: the risen Christ appeared over forty days, continuing to teach and prepare His disciples. Paul’s story shows that He is still doing the same today.</a:t>
            </a:r>
            <a:endParaRPr b="0" i="0" sz="956" u="none" cap="none" strike="noStrike">
              <a:solidFill>
                <a:schemeClr val="dk1"/>
              </a:solidFill>
              <a:latin typeface="Calibri"/>
              <a:ea typeface="Calibri"/>
              <a:cs typeface="Calibri"/>
              <a:sym typeface="Calibri"/>
            </a:endParaRPr>
          </a:p>
        </p:txBody>
      </p:sp>
      <p:sp>
        <p:nvSpPr>
          <p:cNvPr id="45" name="Google Shape;45;p3"/>
          <p:cNvSpPr/>
          <p:nvPr/>
        </p:nvSpPr>
        <p:spPr>
          <a:xfrm>
            <a:off x="857250" y="3690417"/>
            <a:ext cx="6572250" cy="175491"/>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6B7280"/>
              </a:buClr>
              <a:buSzPts val="800"/>
              <a:buFont typeface="Carlito"/>
              <a:buNone/>
            </a:pPr>
            <a:r>
              <a:rPr b="0" i="1" lang="en-US" sz="800" u="none" cap="none" strike="noStrike">
                <a:solidFill>
                  <a:srgbClr val="6B7280"/>
                </a:solidFill>
                <a:latin typeface="Carlito"/>
                <a:ea typeface="Carlito"/>
                <a:cs typeface="Carlito"/>
                <a:sym typeface="Carlito"/>
              </a:rPr>
              <a:t>Jesus did not stop working when He ascended. He continues to meet, call, and shape His people.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4"/>
          <p:cNvSpPr/>
          <p:nvPr/>
        </p:nvSpPr>
        <p:spPr>
          <a:xfrm>
            <a:off x="685800" y="1459446"/>
            <a:ext cx="845820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01 / 04</a:t>
            </a:r>
            <a:endParaRPr b="0" i="0" sz="800" u="none" cap="none" strike="noStrike">
              <a:solidFill>
                <a:schemeClr val="dk1"/>
              </a:solidFill>
              <a:latin typeface="Calibri"/>
              <a:ea typeface="Calibri"/>
              <a:cs typeface="Calibri"/>
              <a:sym typeface="Calibri"/>
            </a:endParaRPr>
          </a:p>
        </p:txBody>
      </p:sp>
      <p:sp>
        <p:nvSpPr>
          <p:cNvPr id="52" name="Google Shape;52;p4"/>
          <p:cNvSpPr/>
          <p:nvPr/>
        </p:nvSpPr>
        <p:spPr>
          <a:xfrm>
            <a:off x="685800" y="1759483"/>
            <a:ext cx="342900" cy="21431"/>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 name="Google Shape;53;p4"/>
          <p:cNvSpPr/>
          <p:nvPr/>
        </p:nvSpPr>
        <p:spPr>
          <a:xfrm>
            <a:off x="685800" y="2038090"/>
            <a:ext cx="7072313" cy="1323889"/>
          </a:xfrm>
          <a:prstGeom prst="rect">
            <a:avLst/>
          </a:prstGeom>
          <a:noFill/>
          <a:ln>
            <a:noFill/>
          </a:ln>
        </p:spPr>
        <p:txBody>
          <a:bodyPr anchorCtr="0" anchor="t" bIns="0" lIns="0" spcFirstLastPara="1" rIns="0" wrap="square" tIns="0">
            <a:noAutofit/>
          </a:bodyPr>
          <a:lstStyle/>
          <a:p>
            <a:pPr indent="0" lvl="0" marL="0" marR="0" rtl="0" algn="l">
              <a:lnSpc>
                <a:spcPct val="109981"/>
              </a:lnSpc>
              <a:spcBef>
                <a:spcPts val="0"/>
              </a:spcBef>
              <a:spcAft>
                <a:spcPts val="0"/>
              </a:spcAft>
              <a:buClr>
                <a:srgbClr val="1A1A1A"/>
              </a:buClr>
              <a:buSzPts val="4388"/>
              <a:buFont typeface="Tinos"/>
              <a:buNone/>
            </a:pPr>
            <a:r>
              <a:rPr b="0" i="1" lang="en-US" sz="4388" u="none" cap="none" strike="noStrike">
                <a:solidFill>
                  <a:srgbClr val="1A1A1A"/>
                </a:solidFill>
                <a:latin typeface="Tinos"/>
                <a:ea typeface="Tinos"/>
                <a:cs typeface="Tinos"/>
                <a:sym typeface="Tinos"/>
              </a:rPr>
              <a:t>A man who knew much about God</a:t>
            </a:r>
            <a:endParaRPr b="0" i="0" sz="4388" u="none" cap="none" strike="noStrike">
              <a:solidFill>
                <a:schemeClr val="dk1"/>
              </a:solidFill>
              <a:latin typeface="Calibri"/>
              <a:ea typeface="Calibri"/>
              <a:cs typeface="Calibri"/>
              <a:sym typeface="Calibri"/>
            </a:endParaRPr>
          </a:p>
        </p:txBody>
      </p:sp>
      <p:sp>
        <p:nvSpPr>
          <p:cNvPr id="54" name="Google Shape;54;p4"/>
          <p:cNvSpPr/>
          <p:nvPr/>
        </p:nvSpPr>
        <p:spPr>
          <a:xfrm>
            <a:off x="685800" y="3463937"/>
            <a:ext cx="5863590" cy="237606"/>
          </a:xfrm>
          <a:prstGeom prst="rect">
            <a:avLst/>
          </a:prstGeom>
          <a:noFill/>
          <a:ln>
            <a:noFill/>
          </a:ln>
        </p:spPr>
        <p:txBody>
          <a:bodyPr anchorCtr="0" anchor="t" bIns="0" lIns="0" spcFirstLastPara="1" rIns="0" wrap="square" tIns="0">
            <a:noAutofit/>
          </a:bodyPr>
          <a:lstStyle/>
          <a:p>
            <a:pPr indent="0" lvl="0" marL="0" marR="0" rtl="0" algn="l">
              <a:lnSpc>
                <a:spcPct val="139983"/>
              </a:lnSpc>
              <a:spcBef>
                <a:spcPts val="0"/>
              </a:spcBef>
              <a:spcAft>
                <a:spcPts val="0"/>
              </a:spcAft>
              <a:buClr>
                <a:srgbClr val="6B7280"/>
              </a:buClr>
              <a:buSzPts val="1238"/>
              <a:buFont typeface="Carlito"/>
              <a:buNone/>
            </a:pPr>
            <a:r>
              <a:rPr b="0" i="0" lang="en-US" sz="1238" u="none" cap="none" strike="noStrike">
                <a:solidFill>
                  <a:srgbClr val="6B7280"/>
                </a:solidFill>
                <a:latin typeface="Carlito"/>
                <a:ea typeface="Carlito"/>
                <a:cs typeface="Carlito"/>
                <a:sym typeface="Carlito"/>
              </a:rPr>
              <a:t>Knowledge, discipline, zeal — and still no Jesus.</a:t>
            </a:r>
            <a:endParaRPr b="0" i="0" sz="1238" u="none" cap="none" strike="noStrike">
              <a:solidFill>
                <a:schemeClr val="dk1"/>
              </a:solidFill>
              <a:latin typeface="Calibri"/>
              <a:ea typeface="Calibri"/>
              <a:cs typeface="Calibri"/>
              <a:sym typeface="Calibri"/>
            </a:endParaRPr>
          </a:p>
        </p:txBody>
      </p:sp>
      <p:sp>
        <p:nvSpPr>
          <p:cNvPr id="55" name="Google Shape;55;p4"/>
          <p:cNvSpPr/>
          <p:nvPr/>
        </p:nvSpPr>
        <p:spPr>
          <a:xfrm>
            <a:off x="7887593" y="4614863"/>
            <a:ext cx="855911"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B7280"/>
              </a:buClr>
              <a:buSzPts val="800"/>
              <a:buFont typeface="Carlito"/>
              <a:buNone/>
            </a:pPr>
            <a:r>
              <a:rPr b="0" i="0" lang="en-US" sz="800" u="none" cap="none" strike="noStrike">
                <a:solidFill>
                  <a:srgbClr val="6B7280"/>
                </a:solidFill>
                <a:latin typeface="Carlito"/>
                <a:ea typeface="Carlito"/>
                <a:cs typeface="Carlito"/>
                <a:sym typeface="Carlito"/>
              </a:rPr>
              <a:t>PART ONE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cxnSp>
        <p:nvCxnSpPr>
          <p:cNvPr id="61" name="Google Shape;61;p5"/>
          <p:cNvCxnSpPr/>
          <p:nvPr/>
        </p:nvCxnSpPr>
        <p:spPr>
          <a:xfrm>
            <a:off x="457200" y="1106500"/>
            <a:ext cx="8229600" cy="0"/>
          </a:xfrm>
          <a:prstGeom prst="straightConnector1">
            <a:avLst/>
          </a:prstGeom>
          <a:noFill/>
          <a:ln cap="flat" cmpd="sng" w="9525">
            <a:solidFill>
              <a:srgbClr val="E5E7EB"/>
            </a:solidFill>
            <a:prstDash val="solid"/>
            <a:round/>
            <a:headEnd len="sm" w="sm" type="none"/>
            <a:tailEnd len="sm" w="sm" type="none"/>
          </a:ln>
        </p:spPr>
      </p:cxnSp>
      <p:sp>
        <p:nvSpPr>
          <p:cNvPr id="62" name="Google Shape;62;p5"/>
          <p:cNvSpPr/>
          <p:nvPr/>
        </p:nvSpPr>
        <p:spPr>
          <a:xfrm>
            <a:off x="457200" y="342900"/>
            <a:ext cx="8339328"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BEFORE HE WAS PAUL · HE WAS SAUL</a:t>
            </a:r>
            <a:endParaRPr b="0" i="0" sz="800" u="none" cap="none" strike="noStrike">
              <a:solidFill>
                <a:schemeClr val="dk1"/>
              </a:solidFill>
              <a:latin typeface="Calibri"/>
              <a:ea typeface="Calibri"/>
              <a:cs typeface="Calibri"/>
              <a:sym typeface="Calibri"/>
            </a:endParaRPr>
          </a:p>
        </p:txBody>
      </p:sp>
      <p:sp>
        <p:nvSpPr>
          <p:cNvPr id="63" name="Google Shape;63;p5"/>
          <p:cNvSpPr/>
          <p:nvPr/>
        </p:nvSpPr>
        <p:spPr>
          <a:xfrm>
            <a:off x="457200" y="571500"/>
            <a:ext cx="8229600" cy="359978"/>
          </a:xfrm>
          <a:prstGeom prst="rect">
            <a:avLst/>
          </a:prstGeom>
          <a:noFill/>
          <a:ln>
            <a:noFill/>
          </a:ln>
        </p:spPr>
        <p:txBody>
          <a:bodyPr anchorCtr="0" anchor="t" bIns="0" lIns="0" spcFirstLastPara="1" rIns="0" wrap="square" tIns="0">
            <a:noAutofit/>
          </a:bodyPr>
          <a:lstStyle/>
          <a:p>
            <a:pPr indent="0" lvl="0" marL="0" marR="0" rtl="0" algn="l">
              <a:lnSpc>
                <a:spcPct val="119974"/>
              </a:lnSpc>
              <a:spcBef>
                <a:spcPts val="0"/>
              </a:spcBef>
              <a:spcAft>
                <a:spcPts val="0"/>
              </a:spcAft>
              <a:buClr>
                <a:srgbClr val="1A1A1A"/>
              </a:buClr>
              <a:buSzPts val="2363"/>
              <a:buFont typeface="Tinos"/>
              <a:buNone/>
            </a:pPr>
            <a:r>
              <a:rPr b="0" i="1" lang="en-US" sz="2363" u="none" cap="none" strike="noStrike">
                <a:solidFill>
                  <a:srgbClr val="1A1A1A"/>
                </a:solidFill>
                <a:latin typeface="Tinos"/>
                <a:ea typeface="Tinos"/>
                <a:cs typeface="Tinos"/>
                <a:sym typeface="Tinos"/>
              </a:rPr>
              <a:t>A man who knew much about God — but did not know Jesus.</a:t>
            </a:r>
            <a:endParaRPr b="0" i="0" sz="2363" u="none" cap="none" strike="noStrike">
              <a:solidFill>
                <a:schemeClr val="dk1"/>
              </a:solidFill>
              <a:latin typeface="Calibri"/>
              <a:ea typeface="Calibri"/>
              <a:cs typeface="Calibri"/>
              <a:sym typeface="Calibri"/>
            </a:endParaRPr>
          </a:p>
        </p:txBody>
      </p:sp>
      <p:sp>
        <p:nvSpPr>
          <p:cNvPr id="64" name="Google Shape;64;p5"/>
          <p:cNvSpPr/>
          <p:nvPr/>
        </p:nvSpPr>
        <p:spPr>
          <a:xfrm>
            <a:off x="457200" y="1310097"/>
            <a:ext cx="4143375" cy="1258550"/>
          </a:xfrm>
          <a:prstGeom prst="rect">
            <a:avLst/>
          </a:prstGeom>
          <a:noFill/>
          <a:ln>
            <a:noFill/>
          </a:ln>
        </p:spPr>
        <p:txBody>
          <a:bodyPr anchorCtr="0" anchor="t" bIns="0" lIns="0" spcFirstLastPara="1" rIns="0" wrap="square" tIns="0">
            <a:noAutofit/>
          </a:bodyPr>
          <a:lstStyle/>
          <a:p>
            <a:pPr indent="0" lvl="0" marL="0" marR="0" rtl="0" algn="l">
              <a:lnSpc>
                <a:spcPct val="170000"/>
              </a:lnSpc>
              <a:spcBef>
                <a:spcPts val="0"/>
              </a:spcBef>
              <a:spcAft>
                <a:spcPts val="0"/>
              </a:spcAft>
              <a:buClr>
                <a:srgbClr val="1A1A1A"/>
              </a:buClr>
              <a:buSzPts val="900"/>
              <a:buFont typeface="Carlito"/>
              <a:buNone/>
            </a:pPr>
            <a:r>
              <a:rPr b="0" i="0" lang="en-US" sz="900" u="none" cap="none" strike="noStrike">
                <a:solidFill>
                  <a:srgbClr val="1A1A1A"/>
                </a:solidFill>
                <a:latin typeface="Carlito"/>
                <a:ea typeface="Carlito"/>
                <a:cs typeface="Carlito"/>
                <a:sym typeface="Carlito"/>
              </a:rPr>
              <a:t>From the outside, Saul seemed very close to God. He had studied under Gamaliel, understood the Scriptures, lived by the strict demands of the law, and was deeply zealous for his faith. He was so serious about religion that he travelled from city to city to defend what he believed was right. When he set out for Damascus, he carried letters from the high priest authorising him to arrest the followers of Jesus and bring them back to Jerusalem.</a:t>
            </a:r>
            <a:endParaRPr b="0" i="0" sz="900" u="none" cap="none" strike="noStrike">
              <a:solidFill>
                <a:schemeClr val="dk1"/>
              </a:solidFill>
              <a:latin typeface="Calibri"/>
              <a:ea typeface="Calibri"/>
              <a:cs typeface="Calibri"/>
              <a:sym typeface="Calibri"/>
            </a:endParaRPr>
          </a:p>
        </p:txBody>
      </p:sp>
      <p:sp>
        <p:nvSpPr>
          <p:cNvPr id="65" name="Google Shape;65;p5"/>
          <p:cNvSpPr/>
          <p:nvPr/>
        </p:nvSpPr>
        <p:spPr>
          <a:xfrm>
            <a:off x="5414404" y="1310097"/>
            <a:ext cx="7144" cy="2900474"/>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6" name="Google Shape;66;p5"/>
          <p:cNvSpPr/>
          <p:nvPr/>
        </p:nvSpPr>
        <p:spPr>
          <a:xfrm>
            <a:off x="5741588" y="1297295"/>
            <a:ext cx="1119627" cy="239916"/>
          </a:xfrm>
          <a:prstGeom prst="roundRect">
            <a:avLst>
              <a:gd fmla="val 3966169" name="adj"/>
            </a:avLst>
          </a:prstGeom>
          <a:solidFill>
            <a:srgbClr val="F8F9F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5764448" y="1310097"/>
            <a:ext cx="1073907" cy="214313"/>
          </a:xfrm>
          <a:prstGeom prst="rect">
            <a:avLst/>
          </a:prstGeom>
          <a:noFill/>
          <a:ln>
            <a:noFill/>
          </a:ln>
        </p:spPr>
        <p:txBody>
          <a:bodyPr anchorCtr="0" anchor="ctr" bIns="0" lIns="0" spcFirstLastPara="1" rIns="0" wrap="square" tIns="0">
            <a:noAutofit/>
          </a:bodyPr>
          <a:lstStyle/>
          <a:p>
            <a:pPr indent="0" lvl="0" marL="0" marR="0" rtl="0" algn="ctr">
              <a:lnSpc>
                <a:spcPct val="126625"/>
              </a:lnSpc>
              <a:spcBef>
                <a:spcPts val="0"/>
              </a:spcBef>
              <a:spcAft>
                <a:spcPts val="0"/>
              </a:spcAft>
              <a:buClr>
                <a:srgbClr val="6B7280"/>
              </a:buClr>
              <a:buSzPts val="800"/>
              <a:buFont typeface="Carlito"/>
              <a:buNone/>
            </a:pPr>
            <a:r>
              <a:rPr b="0" i="0" lang="en-US" sz="800" u="none" cap="none" strike="noStrike">
                <a:solidFill>
                  <a:srgbClr val="6B7280"/>
                </a:solidFill>
                <a:latin typeface="Carlito"/>
                <a:ea typeface="Carlito"/>
                <a:cs typeface="Carlito"/>
                <a:sym typeface="Carlito"/>
              </a:rPr>
              <a:t>WHAT SAUL HAD</a:t>
            </a:r>
            <a:endParaRPr b="0" i="0" sz="800" u="none" cap="none" strike="noStrike">
              <a:solidFill>
                <a:schemeClr val="dk1"/>
              </a:solidFill>
              <a:latin typeface="Calibri"/>
              <a:ea typeface="Calibri"/>
              <a:cs typeface="Calibri"/>
              <a:sym typeface="Calibri"/>
            </a:endParaRPr>
          </a:p>
        </p:txBody>
      </p:sp>
      <p:cxnSp>
        <p:nvCxnSpPr>
          <p:cNvPr id="68" name="Google Shape;68;p5"/>
          <p:cNvCxnSpPr/>
          <p:nvPr/>
        </p:nvCxnSpPr>
        <p:spPr>
          <a:xfrm>
            <a:off x="5764448" y="1656569"/>
            <a:ext cx="2922352" cy="0"/>
          </a:xfrm>
          <a:prstGeom prst="straightConnector1">
            <a:avLst/>
          </a:prstGeom>
          <a:noFill/>
          <a:ln cap="flat" cmpd="sng" w="9525">
            <a:solidFill>
              <a:srgbClr val="E5E7EB"/>
            </a:solidFill>
            <a:prstDash val="solid"/>
            <a:round/>
            <a:headEnd len="sm" w="sm" type="none"/>
            <a:tailEnd len="sm" w="sm" type="none"/>
          </a:ln>
        </p:spPr>
      </p:cxnSp>
      <p:sp>
        <p:nvSpPr>
          <p:cNvPr id="69" name="Google Shape;69;p5"/>
          <p:cNvSpPr/>
          <p:nvPr/>
        </p:nvSpPr>
        <p:spPr>
          <a:xfrm>
            <a:off x="5764448" y="1652997"/>
            <a:ext cx="3068469" cy="315468"/>
          </a:xfrm>
          <a:prstGeom prst="rect">
            <a:avLst/>
          </a:prstGeom>
          <a:noFill/>
          <a:ln>
            <a:noFill/>
          </a:ln>
        </p:spPr>
        <p:txBody>
          <a:bodyPr anchorCtr="0" anchor="t" bIns="92850" lIns="0" spcFirstLastPara="1" rIns="0" wrap="square" tIns="92850">
            <a:normAutofit/>
          </a:bodyPr>
          <a:lstStyle/>
          <a:p>
            <a:pPr indent="0" lvl="0" marL="0" marR="0" rtl="0" algn="l">
              <a:lnSpc>
                <a:spcPct val="140094"/>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Knowledge of Scripture</a:t>
            </a:r>
            <a:endParaRPr b="0" i="0" sz="844" u="none" cap="none" strike="noStrike">
              <a:solidFill>
                <a:schemeClr val="dk1"/>
              </a:solidFill>
              <a:latin typeface="Calibri"/>
              <a:ea typeface="Calibri"/>
              <a:cs typeface="Calibri"/>
              <a:sym typeface="Calibri"/>
            </a:endParaRPr>
          </a:p>
        </p:txBody>
      </p:sp>
      <p:cxnSp>
        <p:nvCxnSpPr>
          <p:cNvPr id="70" name="Google Shape;70;p5"/>
          <p:cNvCxnSpPr/>
          <p:nvPr/>
        </p:nvCxnSpPr>
        <p:spPr>
          <a:xfrm>
            <a:off x="5764448" y="1999469"/>
            <a:ext cx="2922352" cy="0"/>
          </a:xfrm>
          <a:prstGeom prst="straightConnector1">
            <a:avLst/>
          </a:prstGeom>
          <a:noFill/>
          <a:ln cap="flat" cmpd="sng" w="9525">
            <a:solidFill>
              <a:srgbClr val="E5E7EB"/>
            </a:solidFill>
            <a:prstDash val="solid"/>
            <a:round/>
            <a:headEnd len="sm" w="sm" type="none"/>
            <a:tailEnd len="sm" w="sm" type="none"/>
          </a:ln>
        </p:spPr>
      </p:cxnSp>
      <p:sp>
        <p:nvSpPr>
          <p:cNvPr id="71" name="Google Shape;71;p5"/>
          <p:cNvSpPr/>
          <p:nvPr/>
        </p:nvSpPr>
        <p:spPr>
          <a:xfrm>
            <a:off x="5764448" y="1995897"/>
            <a:ext cx="3068469" cy="315468"/>
          </a:xfrm>
          <a:prstGeom prst="rect">
            <a:avLst/>
          </a:prstGeom>
          <a:noFill/>
          <a:ln>
            <a:noFill/>
          </a:ln>
        </p:spPr>
        <p:txBody>
          <a:bodyPr anchorCtr="0" anchor="t" bIns="92850" lIns="0" spcFirstLastPara="1" rIns="0" wrap="square" tIns="92850">
            <a:normAutofit/>
          </a:bodyPr>
          <a:lstStyle/>
          <a:p>
            <a:pPr indent="0" lvl="0" marL="0" marR="0" rtl="0" algn="l">
              <a:lnSpc>
                <a:spcPct val="140094"/>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Discipline under the law</a:t>
            </a:r>
            <a:endParaRPr b="0" i="0" sz="844" u="none" cap="none" strike="noStrike">
              <a:solidFill>
                <a:schemeClr val="dk1"/>
              </a:solidFill>
              <a:latin typeface="Calibri"/>
              <a:ea typeface="Calibri"/>
              <a:cs typeface="Calibri"/>
              <a:sym typeface="Calibri"/>
            </a:endParaRPr>
          </a:p>
        </p:txBody>
      </p:sp>
      <p:cxnSp>
        <p:nvCxnSpPr>
          <p:cNvPr id="72" name="Google Shape;72;p5"/>
          <p:cNvCxnSpPr/>
          <p:nvPr/>
        </p:nvCxnSpPr>
        <p:spPr>
          <a:xfrm>
            <a:off x="5764448" y="2342369"/>
            <a:ext cx="2922352" cy="0"/>
          </a:xfrm>
          <a:prstGeom prst="straightConnector1">
            <a:avLst/>
          </a:prstGeom>
          <a:noFill/>
          <a:ln cap="flat" cmpd="sng" w="9525">
            <a:solidFill>
              <a:srgbClr val="E5E7EB"/>
            </a:solidFill>
            <a:prstDash val="solid"/>
            <a:round/>
            <a:headEnd len="sm" w="sm" type="none"/>
            <a:tailEnd len="sm" w="sm" type="none"/>
          </a:ln>
        </p:spPr>
      </p:cxnSp>
      <p:sp>
        <p:nvSpPr>
          <p:cNvPr id="73" name="Google Shape;73;p5"/>
          <p:cNvSpPr/>
          <p:nvPr/>
        </p:nvSpPr>
        <p:spPr>
          <a:xfrm>
            <a:off x="5764448" y="2338797"/>
            <a:ext cx="3379552" cy="315468"/>
          </a:xfrm>
          <a:prstGeom prst="rect">
            <a:avLst/>
          </a:prstGeom>
          <a:noFill/>
          <a:ln>
            <a:noFill/>
          </a:ln>
        </p:spPr>
        <p:txBody>
          <a:bodyPr anchorCtr="0" anchor="t" bIns="92850" lIns="0" spcFirstLastPara="1" rIns="0" wrap="square" tIns="92850">
            <a:normAutofit/>
          </a:bodyPr>
          <a:lstStyle/>
          <a:p>
            <a:pPr indent="0" lvl="0" marL="0" marR="0" rtl="0" algn="l">
              <a:lnSpc>
                <a:spcPct val="140094"/>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Zeal for God</a:t>
            </a:r>
            <a:endParaRPr b="0" i="0" sz="844" u="none" cap="none" strike="noStrike">
              <a:solidFill>
                <a:schemeClr val="dk1"/>
              </a:solidFill>
              <a:latin typeface="Calibri"/>
              <a:ea typeface="Calibri"/>
              <a:cs typeface="Calibri"/>
              <a:sym typeface="Calibri"/>
            </a:endParaRPr>
          </a:p>
        </p:txBody>
      </p:sp>
      <p:cxnSp>
        <p:nvCxnSpPr>
          <p:cNvPr id="74" name="Google Shape;74;p5"/>
          <p:cNvCxnSpPr/>
          <p:nvPr/>
        </p:nvCxnSpPr>
        <p:spPr>
          <a:xfrm>
            <a:off x="5764448" y="2685269"/>
            <a:ext cx="2922352" cy="0"/>
          </a:xfrm>
          <a:prstGeom prst="straightConnector1">
            <a:avLst/>
          </a:prstGeom>
          <a:noFill/>
          <a:ln cap="flat" cmpd="sng" w="9525">
            <a:solidFill>
              <a:srgbClr val="E5E7EB"/>
            </a:solidFill>
            <a:prstDash val="solid"/>
            <a:round/>
            <a:headEnd len="sm" w="sm" type="none"/>
            <a:tailEnd len="sm" w="sm" type="none"/>
          </a:ln>
        </p:spPr>
      </p:cxnSp>
      <p:sp>
        <p:nvSpPr>
          <p:cNvPr id="75" name="Google Shape;75;p5"/>
          <p:cNvSpPr/>
          <p:nvPr/>
        </p:nvSpPr>
        <p:spPr>
          <a:xfrm>
            <a:off x="5764448" y="2681697"/>
            <a:ext cx="2922352" cy="370332"/>
          </a:xfrm>
          <a:prstGeom prst="rect">
            <a:avLst/>
          </a:prstGeom>
          <a:noFill/>
          <a:ln>
            <a:noFill/>
          </a:ln>
        </p:spPr>
        <p:txBody>
          <a:bodyPr anchorCtr="0" anchor="t" bIns="92850" lIns="0" spcFirstLastPara="1" rIns="0" wrap="square" tIns="92850">
            <a:noAutofit/>
          </a:bodyPr>
          <a:lstStyle/>
          <a:p>
            <a:pPr indent="0" lvl="0" marL="0" marR="0" rtl="0" algn="l">
              <a:lnSpc>
                <a:spcPct val="140094"/>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A mission he believed was from God</a:t>
            </a:r>
            <a:endParaRPr b="0" i="0" sz="844" u="none" cap="none" strike="noStrike">
              <a:solidFill>
                <a:schemeClr val="dk1"/>
              </a:solidFill>
              <a:latin typeface="Calibri"/>
              <a:ea typeface="Calibri"/>
              <a:cs typeface="Calibri"/>
              <a:sym typeface="Calibri"/>
            </a:endParaRPr>
          </a:p>
        </p:txBody>
      </p:sp>
      <p:sp>
        <p:nvSpPr>
          <p:cNvPr id="76" name="Google Shape;76;p5"/>
          <p:cNvSpPr/>
          <p:nvPr/>
        </p:nvSpPr>
        <p:spPr>
          <a:xfrm>
            <a:off x="5764448" y="3153184"/>
            <a:ext cx="3331481" cy="153570"/>
          </a:xfrm>
          <a:prstGeom prst="rect">
            <a:avLst/>
          </a:prstGeom>
          <a:noFill/>
          <a:ln>
            <a:noFill/>
          </a:ln>
        </p:spPr>
        <p:txBody>
          <a:bodyPr anchorCtr="0" anchor="t" bIns="0" lIns="0" spcFirstLastPara="1" rIns="0" wrap="square" tIns="0">
            <a:noAutofit/>
          </a:bodyPr>
          <a:lstStyle/>
          <a:p>
            <a:pPr indent="0" lvl="0" marL="0" marR="0" rtl="0" algn="l">
              <a:lnSpc>
                <a:spcPct val="137875"/>
              </a:lnSpc>
              <a:spcBef>
                <a:spcPts val="0"/>
              </a:spcBef>
              <a:spcAft>
                <a:spcPts val="0"/>
              </a:spcAft>
              <a:buClr>
                <a:srgbClr val="2B5BA8"/>
              </a:buClr>
              <a:buSzPts val="800"/>
              <a:buFont typeface="Carlito"/>
              <a:buNone/>
            </a:pPr>
            <a:r>
              <a:rPr b="0" i="1" lang="en-US" sz="800" u="none" cap="none" strike="noStrike">
                <a:solidFill>
                  <a:srgbClr val="2B5BA8"/>
                </a:solidFill>
                <a:latin typeface="Carlito"/>
                <a:ea typeface="Carlito"/>
                <a:cs typeface="Carlito"/>
                <a:sym typeface="Carlito"/>
              </a:rPr>
              <a:t>But he did not know Jesus.</a:t>
            </a:r>
            <a:endParaRPr b="0" i="0" sz="800" u="none" cap="none" strike="noStrike">
              <a:solidFill>
                <a:schemeClr val="dk1"/>
              </a:solidFill>
              <a:latin typeface="Calibri"/>
              <a:ea typeface="Calibri"/>
              <a:cs typeface="Calibri"/>
              <a:sym typeface="Calibri"/>
            </a:endParaRPr>
          </a:p>
        </p:txBody>
      </p:sp>
      <p:cxnSp>
        <p:nvCxnSpPr>
          <p:cNvPr id="77" name="Google Shape;77;p5"/>
          <p:cNvCxnSpPr/>
          <p:nvPr/>
        </p:nvCxnSpPr>
        <p:spPr>
          <a:xfrm>
            <a:off x="457200" y="4214143"/>
            <a:ext cx="8229600" cy="0"/>
          </a:xfrm>
          <a:prstGeom prst="straightConnector1">
            <a:avLst/>
          </a:prstGeom>
          <a:noFill/>
          <a:ln cap="flat" cmpd="sng" w="9525">
            <a:solidFill>
              <a:srgbClr val="E5E7EB"/>
            </a:solidFill>
            <a:prstDash val="solid"/>
            <a:round/>
            <a:headEnd len="sm" w="sm" type="none"/>
            <a:tailEnd len="sm" w="sm" type="none"/>
          </a:ln>
        </p:spPr>
      </p:cxnSp>
      <p:sp>
        <p:nvSpPr>
          <p:cNvPr id="78" name="Google Shape;78;p5"/>
          <p:cNvSpPr/>
          <p:nvPr/>
        </p:nvSpPr>
        <p:spPr>
          <a:xfrm>
            <a:off x="1000125" y="4360590"/>
            <a:ext cx="7143750" cy="440010"/>
          </a:xfrm>
          <a:prstGeom prst="rect">
            <a:avLst/>
          </a:prstGeom>
          <a:noFill/>
          <a:ln>
            <a:noFill/>
          </a:ln>
        </p:spPr>
        <p:txBody>
          <a:bodyPr anchorCtr="0" anchor="t" bIns="0" lIns="0" spcFirstLastPara="1" rIns="0" wrap="square" tIns="0">
            <a:noAutofit/>
          </a:bodyPr>
          <a:lstStyle/>
          <a:p>
            <a:pPr indent="0" lvl="0" marL="0" marR="0" rtl="0" algn="ctr">
              <a:lnSpc>
                <a:spcPct val="139983"/>
              </a:lnSpc>
              <a:spcBef>
                <a:spcPts val="0"/>
              </a:spcBef>
              <a:spcAft>
                <a:spcPts val="0"/>
              </a:spcAft>
              <a:buClr>
                <a:srgbClr val="1A1A1A"/>
              </a:buClr>
              <a:buSzPts val="1238"/>
              <a:buFont typeface="Tinos"/>
              <a:buNone/>
            </a:pPr>
            <a:r>
              <a:rPr b="0" i="1" lang="en-US" sz="1238" u="none" cap="none" strike="noStrike">
                <a:solidFill>
                  <a:srgbClr val="1A1A1A"/>
                </a:solidFill>
                <a:latin typeface="Tinos"/>
                <a:ea typeface="Tinos"/>
                <a:cs typeface="Tinos"/>
                <a:sym typeface="Tinos"/>
              </a:rPr>
              <a:t>A person can know many things about God and still not truly know Him. Revival begins not with more information, but with a personal encounter.</a:t>
            </a:r>
            <a:endParaRPr b="0" i="0" sz="1238"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685800" y="1459446"/>
            <a:ext cx="845820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02 / 04</a:t>
            </a:r>
            <a:endParaRPr b="0" i="0" sz="800" u="none" cap="none" strike="noStrike">
              <a:solidFill>
                <a:schemeClr val="dk1"/>
              </a:solidFill>
              <a:latin typeface="Calibri"/>
              <a:ea typeface="Calibri"/>
              <a:cs typeface="Calibri"/>
              <a:sym typeface="Calibri"/>
            </a:endParaRPr>
          </a:p>
        </p:txBody>
      </p:sp>
      <p:sp>
        <p:nvSpPr>
          <p:cNvPr id="85" name="Google Shape;85;p6"/>
          <p:cNvSpPr/>
          <p:nvPr/>
        </p:nvSpPr>
        <p:spPr>
          <a:xfrm>
            <a:off x="685800" y="1759483"/>
            <a:ext cx="342900" cy="21431"/>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6" name="Google Shape;86;p6"/>
          <p:cNvSpPr/>
          <p:nvPr/>
        </p:nvSpPr>
        <p:spPr>
          <a:xfrm>
            <a:off x="685800" y="2038090"/>
            <a:ext cx="7000875" cy="1323889"/>
          </a:xfrm>
          <a:prstGeom prst="rect">
            <a:avLst/>
          </a:prstGeom>
          <a:noFill/>
          <a:ln>
            <a:noFill/>
          </a:ln>
        </p:spPr>
        <p:txBody>
          <a:bodyPr anchorCtr="0" anchor="t" bIns="0" lIns="0" spcFirstLastPara="1" rIns="0" wrap="square" tIns="0">
            <a:noAutofit/>
          </a:bodyPr>
          <a:lstStyle/>
          <a:p>
            <a:pPr indent="0" lvl="0" marL="0" marR="0" rtl="0" algn="l">
              <a:lnSpc>
                <a:spcPct val="109981"/>
              </a:lnSpc>
              <a:spcBef>
                <a:spcPts val="0"/>
              </a:spcBef>
              <a:spcAft>
                <a:spcPts val="0"/>
              </a:spcAft>
              <a:buClr>
                <a:srgbClr val="1A1A1A"/>
              </a:buClr>
              <a:buSzPts val="4388"/>
              <a:buFont typeface="Tinos"/>
              <a:buNone/>
            </a:pPr>
            <a:r>
              <a:rPr b="0" i="1" lang="en-US" sz="4388" u="none" cap="none" strike="noStrike">
                <a:solidFill>
                  <a:srgbClr val="1A1A1A"/>
                </a:solidFill>
                <a:latin typeface="Tinos"/>
                <a:ea typeface="Tinos"/>
                <a:cs typeface="Tinos"/>
                <a:sym typeface="Tinos"/>
              </a:rPr>
              <a:t>When the risen Christ called Saul by name</a:t>
            </a:r>
            <a:endParaRPr b="0" i="0" sz="4388" u="none" cap="none" strike="noStrike">
              <a:solidFill>
                <a:schemeClr val="dk1"/>
              </a:solidFill>
              <a:latin typeface="Calibri"/>
              <a:ea typeface="Calibri"/>
              <a:cs typeface="Calibri"/>
              <a:sym typeface="Calibri"/>
            </a:endParaRPr>
          </a:p>
        </p:txBody>
      </p:sp>
      <p:sp>
        <p:nvSpPr>
          <p:cNvPr id="87" name="Google Shape;87;p6"/>
          <p:cNvSpPr/>
          <p:nvPr/>
        </p:nvSpPr>
        <p:spPr>
          <a:xfrm>
            <a:off x="685800" y="3463937"/>
            <a:ext cx="5863590" cy="237606"/>
          </a:xfrm>
          <a:prstGeom prst="rect">
            <a:avLst/>
          </a:prstGeom>
          <a:noFill/>
          <a:ln>
            <a:noFill/>
          </a:ln>
        </p:spPr>
        <p:txBody>
          <a:bodyPr anchorCtr="0" anchor="t" bIns="0" lIns="0" spcFirstLastPara="1" rIns="0" wrap="square" tIns="0">
            <a:noAutofit/>
          </a:bodyPr>
          <a:lstStyle/>
          <a:p>
            <a:pPr indent="0" lvl="0" marL="0" marR="0" rtl="0" algn="l">
              <a:lnSpc>
                <a:spcPct val="139983"/>
              </a:lnSpc>
              <a:spcBef>
                <a:spcPts val="0"/>
              </a:spcBef>
              <a:spcAft>
                <a:spcPts val="0"/>
              </a:spcAft>
              <a:buClr>
                <a:srgbClr val="6B7280"/>
              </a:buClr>
              <a:buSzPts val="1238"/>
              <a:buFont typeface="Carlito"/>
              <a:buNone/>
            </a:pPr>
            <a:r>
              <a:rPr b="0" i="0" lang="en-US" sz="1238" u="none" cap="none" strike="noStrike">
                <a:solidFill>
                  <a:srgbClr val="6B7280"/>
                </a:solidFill>
                <a:latin typeface="Carlito"/>
                <a:ea typeface="Carlito"/>
                <a:cs typeface="Carlito"/>
                <a:sym typeface="Carlito"/>
              </a:rPr>
              <a:t>Not Saul seeking Jesus — Jesus seeking Saul.</a:t>
            </a:r>
            <a:endParaRPr b="0" i="0" sz="1238" u="none" cap="none" strike="noStrike">
              <a:solidFill>
                <a:schemeClr val="dk1"/>
              </a:solidFill>
              <a:latin typeface="Calibri"/>
              <a:ea typeface="Calibri"/>
              <a:cs typeface="Calibri"/>
              <a:sym typeface="Calibri"/>
            </a:endParaRPr>
          </a:p>
        </p:txBody>
      </p:sp>
      <p:sp>
        <p:nvSpPr>
          <p:cNvPr id="88" name="Google Shape;88;p6"/>
          <p:cNvSpPr/>
          <p:nvPr/>
        </p:nvSpPr>
        <p:spPr>
          <a:xfrm>
            <a:off x="7878887" y="4614863"/>
            <a:ext cx="86897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B7280"/>
              </a:buClr>
              <a:buSzPts val="800"/>
              <a:buFont typeface="Carlito"/>
              <a:buNone/>
            </a:pPr>
            <a:r>
              <a:rPr b="0" i="0" lang="en-US" sz="800" u="none" cap="none" strike="noStrike">
                <a:solidFill>
                  <a:srgbClr val="6B7280"/>
                </a:solidFill>
                <a:latin typeface="Carlito"/>
                <a:ea typeface="Carlito"/>
                <a:cs typeface="Carlito"/>
                <a:sym typeface="Carlito"/>
              </a:rPr>
              <a:t>PART TWO</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cxnSp>
        <p:nvCxnSpPr>
          <p:cNvPr id="94" name="Google Shape;94;p7"/>
          <p:cNvCxnSpPr/>
          <p:nvPr/>
        </p:nvCxnSpPr>
        <p:spPr>
          <a:xfrm>
            <a:off x="514350" y="1086520"/>
            <a:ext cx="8115300" cy="0"/>
          </a:xfrm>
          <a:prstGeom prst="straightConnector1">
            <a:avLst/>
          </a:prstGeom>
          <a:noFill/>
          <a:ln cap="flat" cmpd="sng" w="9525">
            <a:solidFill>
              <a:srgbClr val="E5E7EB"/>
            </a:solidFill>
            <a:prstDash val="solid"/>
            <a:round/>
            <a:headEnd len="sm" w="sm" type="none"/>
            <a:tailEnd len="sm" w="sm" type="none"/>
          </a:ln>
        </p:spPr>
      </p:cxnSp>
      <p:sp>
        <p:nvSpPr>
          <p:cNvPr id="95" name="Google Shape;95;p7"/>
          <p:cNvSpPr/>
          <p:nvPr/>
        </p:nvSpPr>
        <p:spPr>
          <a:xfrm>
            <a:off x="514350" y="400050"/>
            <a:ext cx="8225028"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THE DAMASCUS ROAD · ACTS 9:1–9</a:t>
            </a:r>
            <a:endParaRPr b="0" i="0" sz="800" u="none" cap="none" strike="noStrike">
              <a:solidFill>
                <a:schemeClr val="dk1"/>
              </a:solidFill>
              <a:latin typeface="Calibri"/>
              <a:ea typeface="Calibri"/>
              <a:cs typeface="Calibri"/>
              <a:sym typeface="Calibri"/>
            </a:endParaRPr>
          </a:p>
        </p:txBody>
      </p:sp>
      <p:sp>
        <p:nvSpPr>
          <p:cNvPr id="96" name="Google Shape;96;p7"/>
          <p:cNvSpPr/>
          <p:nvPr/>
        </p:nvSpPr>
        <p:spPr>
          <a:xfrm>
            <a:off x="514350" y="614363"/>
            <a:ext cx="8115300" cy="325710"/>
          </a:xfrm>
          <a:prstGeom prst="rect">
            <a:avLst/>
          </a:prstGeom>
          <a:noFill/>
          <a:ln>
            <a:noFill/>
          </a:ln>
        </p:spPr>
        <p:txBody>
          <a:bodyPr anchorCtr="0" anchor="t" bIns="0" lIns="0" spcFirstLastPara="1" rIns="0" wrap="square" tIns="0">
            <a:noAutofit/>
          </a:bodyPr>
          <a:lstStyle/>
          <a:p>
            <a:pPr indent="0" lvl="0" marL="0" marR="0" rtl="0" algn="l">
              <a:lnSpc>
                <a:spcPct val="119971"/>
              </a:lnSpc>
              <a:spcBef>
                <a:spcPts val="0"/>
              </a:spcBef>
              <a:spcAft>
                <a:spcPts val="0"/>
              </a:spcAft>
              <a:buClr>
                <a:srgbClr val="1A1A1A"/>
              </a:buClr>
              <a:buSzPts val="2138"/>
              <a:buFont typeface="Tinos"/>
              <a:buNone/>
            </a:pPr>
            <a:r>
              <a:rPr b="0" i="1" lang="en-US" sz="2138" u="none" cap="none" strike="noStrike">
                <a:solidFill>
                  <a:srgbClr val="1A1A1A"/>
                </a:solidFill>
                <a:latin typeface="Tinos"/>
                <a:ea typeface="Tinos"/>
                <a:cs typeface="Tinos"/>
                <a:sym typeface="Tinos"/>
              </a:rPr>
              <a:t>A light from heaven. A voice. A question.</a:t>
            </a:r>
            <a:endParaRPr b="0" i="0" sz="2138" u="none" cap="none" strike="noStrike">
              <a:solidFill>
                <a:schemeClr val="dk1"/>
              </a:solidFill>
              <a:latin typeface="Calibri"/>
              <a:ea typeface="Calibri"/>
              <a:cs typeface="Calibri"/>
              <a:sym typeface="Calibri"/>
            </a:endParaRPr>
          </a:p>
        </p:txBody>
      </p:sp>
      <p:cxnSp>
        <p:nvCxnSpPr>
          <p:cNvPr id="97" name="Google Shape;97;p7"/>
          <p:cNvCxnSpPr/>
          <p:nvPr/>
        </p:nvCxnSpPr>
        <p:spPr>
          <a:xfrm>
            <a:off x="1428750" y="1721421"/>
            <a:ext cx="6286500" cy="0"/>
          </a:xfrm>
          <a:prstGeom prst="straightConnector1">
            <a:avLst/>
          </a:prstGeom>
          <a:noFill/>
          <a:ln cap="flat" cmpd="sng" w="9525">
            <a:solidFill>
              <a:srgbClr val="E5E7EB"/>
            </a:solidFill>
            <a:prstDash val="solid"/>
            <a:round/>
            <a:headEnd len="sm" w="sm" type="none"/>
            <a:tailEnd len="sm" w="sm" type="none"/>
          </a:ln>
        </p:spPr>
      </p:cxnSp>
      <p:sp>
        <p:nvSpPr>
          <p:cNvPr id="98" name="Google Shape;98;p7"/>
          <p:cNvSpPr/>
          <p:nvPr/>
        </p:nvSpPr>
        <p:spPr>
          <a:xfrm>
            <a:off x="1428750" y="1867867"/>
            <a:ext cx="941064" cy="239985"/>
          </a:xfrm>
          <a:prstGeom prst="rect">
            <a:avLst/>
          </a:prstGeom>
          <a:noFill/>
          <a:ln>
            <a:noFill/>
          </a:ln>
        </p:spPr>
        <p:txBody>
          <a:bodyPr anchorCtr="0" anchor="t" bIns="0" lIns="0" spcFirstLastPara="1" rIns="0" wrap="square" tIns="71425">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THE VOICE</a:t>
            </a:r>
            <a:endParaRPr b="0" i="0" sz="800" u="none" cap="none" strike="noStrike">
              <a:solidFill>
                <a:schemeClr val="dk1"/>
              </a:solidFill>
              <a:latin typeface="Calibri"/>
              <a:ea typeface="Calibri"/>
              <a:cs typeface="Calibri"/>
              <a:sym typeface="Calibri"/>
            </a:endParaRPr>
          </a:p>
        </p:txBody>
      </p:sp>
      <p:sp>
        <p:nvSpPr>
          <p:cNvPr id="99" name="Google Shape;99;p7"/>
          <p:cNvSpPr/>
          <p:nvPr/>
        </p:nvSpPr>
        <p:spPr>
          <a:xfrm>
            <a:off x="2257425" y="1867867"/>
            <a:ext cx="5457825" cy="2399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350"/>
              <a:buFont typeface="Tinos"/>
              <a:buNone/>
            </a:pPr>
            <a:r>
              <a:rPr b="0" i="1" lang="en-US" sz="1350" u="none" cap="none" strike="noStrike">
                <a:solidFill>
                  <a:srgbClr val="1A1A1A"/>
                </a:solidFill>
                <a:latin typeface="Tinos"/>
                <a:ea typeface="Tinos"/>
                <a:cs typeface="Tinos"/>
                <a:sym typeface="Tinos"/>
              </a:rPr>
              <a:t>“Saul, Saul, why are you persecuting Me?”</a:t>
            </a:r>
            <a:endParaRPr b="0" i="0" sz="1350" u="none" cap="none" strike="noStrike">
              <a:solidFill>
                <a:schemeClr val="dk1"/>
              </a:solidFill>
              <a:latin typeface="Calibri"/>
              <a:ea typeface="Calibri"/>
              <a:cs typeface="Calibri"/>
              <a:sym typeface="Calibri"/>
            </a:endParaRPr>
          </a:p>
        </p:txBody>
      </p:sp>
      <p:cxnSp>
        <p:nvCxnSpPr>
          <p:cNvPr id="100" name="Google Shape;100;p7"/>
          <p:cNvCxnSpPr/>
          <p:nvPr/>
        </p:nvCxnSpPr>
        <p:spPr>
          <a:xfrm>
            <a:off x="1428750" y="2254300"/>
            <a:ext cx="6286500" cy="0"/>
          </a:xfrm>
          <a:prstGeom prst="straightConnector1">
            <a:avLst/>
          </a:prstGeom>
          <a:noFill/>
          <a:ln cap="flat" cmpd="sng" w="9525">
            <a:solidFill>
              <a:srgbClr val="E5E7EB"/>
            </a:solidFill>
            <a:prstDash val="solid"/>
            <a:round/>
            <a:headEnd len="sm" w="sm" type="none"/>
            <a:tailEnd len="sm" w="sm" type="none"/>
          </a:ln>
        </p:spPr>
      </p:cxnSp>
      <p:sp>
        <p:nvSpPr>
          <p:cNvPr id="101" name="Google Shape;101;p7"/>
          <p:cNvSpPr/>
          <p:nvPr/>
        </p:nvSpPr>
        <p:spPr>
          <a:xfrm>
            <a:off x="1428750" y="2400746"/>
            <a:ext cx="1051560" cy="239985"/>
          </a:xfrm>
          <a:prstGeom prst="rect">
            <a:avLst/>
          </a:prstGeom>
          <a:noFill/>
          <a:ln>
            <a:noFill/>
          </a:ln>
        </p:spPr>
        <p:txBody>
          <a:bodyPr anchorCtr="0" anchor="t" bIns="0" lIns="0" spcFirstLastPara="1" rIns="0" wrap="square" tIns="71425">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SAUL</a:t>
            </a:r>
            <a:endParaRPr b="0" i="0" sz="800" u="none" cap="none" strike="noStrike">
              <a:solidFill>
                <a:schemeClr val="dk1"/>
              </a:solidFill>
              <a:latin typeface="Calibri"/>
              <a:ea typeface="Calibri"/>
              <a:cs typeface="Calibri"/>
              <a:sym typeface="Calibri"/>
            </a:endParaRPr>
          </a:p>
        </p:txBody>
      </p:sp>
      <p:sp>
        <p:nvSpPr>
          <p:cNvPr id="102" name="Google Shape;102;p7"/>
          <p:cNvSpPr/>
          <p:nvPr/>
        </p:nvSpPr>
        <p:spPr>
          <a:xfrm>
            <a:off x="2257425" y="2400746"/>
            <a:ext cx="5457825" cy="2399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350"/>
              <a:buFont typeface="Tinos"/>
              <a:buNone/>
            </a:pPr>
            <a:r>
              <a:rPr b="0" i="1" lang="en-US" sz="1350" u="none" cap="none" strike="noStrike">
                <a:solidFill>
                  <a:srgbClr val="1A1A1A"/>
                </a:solidFill>
                <a:latin typeface="Tinos"/>
                <a:ea typeface="Tinos"/>
                <a:cs typeface="Tinos"/>
                <a:sym typeface="Tinos"/>
              </a:rPr>
              <a:t>“Who are You, Lord?”</a:t>
            </a:r>
            <a:endParaRPr b="0" i="0" sz="1350" u="none" cap="none" strike="noStrike">
              <a:solidFill>
                <a:schemeClr val="dk1"/>
              </a:solidFill>
              <a:latin typeface="Calibri"/>
              <a:ea typeface="Calibri"/>
              <a:cs typeface="Calibri"/>
              <a:sym typeface="Calibri"/>
            </a:endParaRPr>
          </a:p>
        </p:txBody>
      </p:sp>
      <p:cxnSp>
        <p:nvCxnSpPr>
          <p:cNvPr id="103" name="Google Shape;103;p7"/>
          <p:cNvCxnSpPr/>
          <p:nvPr/>
        </p:nvCxnSpPr>
        <p:spPr>
          <a:xfrm>
            <a:off x="1428750" y="2787179"/>
            <a:ext cx="6286500" cy="0"/>
          </a:xfrm>
          <a:prstGeom prst="straightConnector1">
            <a:avLst/>
          </a:prstGeom>
          <a:noFill/>
          <a:ln cap="flat" cmpd="sng" w="9525">
            <a:solidFill>
              <a:srgbClr val="E5E7EB"/>
            </a:solidFill>
            <a:prstDash val="solid"/>
            <a:round/>
            <a:headEnd len="sm" w="sm" type="none"/>
            <a:tailEnd len="sm" w="sm" type="none"/>
          </a:ln>
        </p:spPr>
      </p:cxnSp>
      <p:cxnSp>
        <p:nvCxnSpPr>
          <p:cNvPr id="104" name="Google Shape;104;p7"/>
          <p:cNvCxnSpPr/>
          <p:nvPr/>
        </p:nvCxnSpPr>
        <p:spPr>
          <a:xfrm>
            <a:off x="1428750" y="3320058"/>
            <a:ext cx="6286500" cy="0"/>
          </a:xfrm>
          <a:prstGeom prst="straightConnector1">
            <a:avLst/>
          </a:prstGeom>
          <a:noFill/>
          <a:ln cap="flat" cmpd="sng" w="9525">
            <a:solidFill>
              <a:srgbClr val="E5E7EB"/>
            </a:solidFill>
            <a:prstDash val="solid"/>
            <a:round/>
            <a:headEnd len="sm" w="sm" type="none"/>
            <a:tailEnd len="sm" w="sm" type="none"/>
          </a:ln>
        </p:spPr>
      </p:cxnSp>
      <p:sp>
        <p:nvSpPr>
          <p:cNvPr id="105" name="Google Shape;105;p7"/>
          <p:cNvSpPr/>
          <p:nvPr/>
        </p:nvSpPr>
        <p:spPr>
          <a:xfrm>
            <a:off x="1428750" y="2933626"/>
            <a:ext cx="870084" cy="239985"/>
          </a:xfrm>
          <a:prstGeom prst="rect">
            <a:avLst/>
          </a:prstGeom>
          <a:noFill/>
          <a:ln>
            <a:noFill/>
          </a:ln>
        </p:spPr>
        <p:txBody>
          <a:bodyPr anchorCtr="0" anchor="t" bIns="0" lIns="0" spcFirstLastPara="1" rIns="0" wrap="square" tIns="71425">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THE ANSWER</a:t>
            </a:r>
            <a:endParaRPr b="0" i="0" sz="800" u="none" cap="none" strike="noStrike">
              <a:solidFill>
                <a:schemeClr val="dk1"/>
              </a:solidFill>
              <a:latin typeface="Calibri"/>
              <a:ea typeface="Calibri"/>
              <a:cs typeface="Calibri"/>
              <a:sym typeface="Calibri"/>
            </a:endParaRPr>
          </a:p>
        </p:txBody>
      </p:sp>
      <p:sp>
        <p:nvSpPr>
          <p:cNvPr id="106" name="Google Shape;106;p7"/>
          <p:cNvSpPr/>
          <p:nvPr/>
        </p:nvSpPr>
        <p:spPr>
          <a:xfrm>
            <a:off x="2257425" y="2933626"/>
            <a:ext cx="5457825" cy="2399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350"/>
              <a:buFont typeface="Tinos"/>
              <a:buNone/>
            </a:pPr>
            <a:r>
              <a:rPr b="0" i="1" lang="en-US" sz="1350" u="none" cap="none" strike="noStrike">
                <a:solidFill>
                  <a:srgbClr val="1A1A1A"/>
                </a:solidFill>
                <a:latin typeface="Tinos"/>
                <a:ea typeface="Tinos"/>
                <a:cs typeface="Tinos"/>
                <a:sym typeface="Tinos"/>
              </a:rPr>
              <a:t>“I am Jesus, whom you are persecuting.”</a:t>
            </a:r>
            <a:endParaRPr b="0" i="0" sz="1350" u="none" cap="none" strike="noStrike">
              <a:solidFill>
                <a:schemeClr val="dk1"/>
              </a:solidFill>
              <a:latin typeface="Calibri"/>
              <a:ea typeface="Calibri"/>
              <a:cs typeface="Calibri"/>
              <a:sym typeface="Calibri"/>
            </a:endParaRPr>
          </a:p>
        </p:txBody>
      </p:sp>
      <p:sp>
        <p:nvSpPr>
          <p:cNvPr id="107" name="Google Shape;107;p7"/>
          <p:cNvSpPr/>
          <p:nvPr/>
        </p:nvSpPr>
        <p:spPr>
          <a:xfrm>
            <a:off x="0" y="3437930"/>
            <a:ext cx="7715250" cy="164592"/>
          </a:xfrm>
          <a:prstGeom prst="rect">
            <a:avLst/>
          </a:prstGeom>
          <a:noFill/>
          <a:ln>
            <a:noFill/>
          </a:ln>
        </p:spPr>
        <p:txBody>
          <a:bodyPr anchorCtr="0" anchor="t" bIns="0" lIns="0" spcFirstLastPara="1" rIns="0" wrap="square" tIns="0">
            <a:noAutofit/>
          </a:bodyPr>
          <a:lstStyle/>
          <a:p>
            <a:pPr indent="0" lvl="0" marL="0" marR="0" rtl="0" algn="r">
              <a:lnSpc>
                <a:spcPct val="137125"/>
              </a:lnSpc>
              <a:spcBef>
                <a:spcPts val="0"/>
              </a:spcBef>
              <a:spcAft>
                <a:spcPts val="0"/>
              </a:spcAft>
              <a:buClr>
                <a:srgbClr val="6B7280"/>
              </a:buClr>
              <a:buSzPts val="800"/>
              <a:buFont typeface="Arial"/>
              <a:buNone/>
            </a:pPr>
            <a:r>
              <a:rPr b="0" i="0" lang="en-US" sz="800" u="none" cap="none" strike="noStrike">
                <a:solidFill>
                  <a:srgbClr val="6B7280"/>
                </a:solidFill>
                <a:latin typeface="Arial"/>
                <a:ea typeface="Arial"/>
                <a:cs typeface="Arial"/>
                <a:sym typeface="Arial"/>
              </a:rPr>
              <a:t>ACTS 9:4–5</a:t>
            </a:r>
            <a:endParaRPr b="0" i="0" sz="800" u="none" cap="none" strike="noStrike">
              <a:solidFill>
                <a:schemeClr val="dk1"/>
              </a:solidFill>
              <a:latin typeface="Calibri"/>
              <a:ea typeface="Calibri"/>
              <a:cs typeface="Calibri"/>
              <a:sym typeface="Calibri"/>
            </a:endParaRPr>
          </a:p>
        </p:txBody>
      </p:sp>
      <p:cxnSp>
        <p:nvCxnSpPr>
          <p:cNvPr id="108" name="Google Shape;108;p7"/>
          <p:cNvCxnSpPr/>
          <p:nvPr/>
        </p:nvCxnSpPr>
        <p:spPr>
          <a:xfrm>
            <a:off x="514350" y="4208562"/>
            <a:ext cx="8115300" cy="0"/>
          </a:xfrm>
          <a:prstGeom prst="straightConnector1">
            <a:avLst/>
          </a:prstGeom>
          <a:noFill/>
          <a:ln cap="flat" cmpd="sng" w="9525">
            <a:solidFill>
              <a:srgbClr val="E5E7EB"/>
            </a:solidFill>
            <a:prstDash val="solid"/>
            <a:round/>
            <a:headEnd len="sm" w="sm" type="none"/>
            <a:tailEnd len="sm" w="sm" type="none"/>
          </a:ln>
        </p:spPr>
      </p:cxnSp>
      <p:sp>
        <p:nvSpPr>
          <p:cNvPr id="109" name="Google Shape;109;p7"/>
          <p:cNvSpPr/>
          <p:nvPr/>
        </p:nvSpPr>
        <p:spPr>
          <a:xfrm>
            <a:off x="1143000" y="4355009"/>
            <a:ext cx="6858000" cy="388441"/>
          </a:xfrm>
          <a:prstGeom prst="rect">
            <a:avLst/>
          </a:prstGeom>
          <a:noFill/>
          <a:ln>
            <a:noFill/>
          </a:ln>
        </p:spPr>
        <p:txBody>
          <a:bodyPr anchorCtr="0" anchor="t" bIns="0" lIns="0" spcFirstLastPara="1" rIns="0" wrap="square" tIns="0">
            <a:noAutofit/>
          </a:bodyPr>
          <a:lstStyle/>
          <a:p>
            <a:pPr indent="0" lvl="0" marL="0" marR="0" rtl="0" algn="ctr">
              <a:lnSpc>
                <a:spcPct val="170000"/>
              </a:lnSpc>
              <a:spcBef>
                <a:spcPts val="0"/>
              </a:spcBef>
              <a:spcAft>
                <a:spcPts val="0"/>
              </a:spcAft>
              <a:buClr>
                <a:srgbClr val="1A1A1A"/>
              </a:buClr>
              <a:buSzPts val="900"/>
              <a:buFont typeface="Carlito"/>
              <a:buNone/>
            </a:pPr>
            <a:r>
              <a:rPr b="0" i="0" lang="en-US" sz="900" u="none" cap="none" strike="noStrike">
                <a:solidFill>
                  <a:srgbClr val="1A1A1A"/>
                </a:solidFill>
                <a:latin typeface="Carlito"/>
                <a:ea typeface="Carlito"/>
                <a:cs typeface="Carlito"/>
                <a:sym typeface="Carlito"/>
              </a:rPr>
              <a:t>This may be the central question of Paul’s entire life. Saul thought he knew God. He thought he was fighting for God. But when the living Jesus met him, Saul discovered that zeal and knowledge could not replace a genuine relationship with the Lord.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8"/>
          <p:cNvSpPr/>
          <p:nvPr/>
        </p:nvSpPr>
        <p:spPr>
          <a:xfrm>
            <a:off x="514350" y="400050"/>
            <a:ext cx="86296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THE MEANING OF “I AM JESUS”</a:t>
            </a:r>
            <a:endParaRPr b="0" i="0" sz="800" u="none" cap="none" strike="noStrike">
              <a:solidFill>
                <a:schemeClr val="dk1"/>
              </a:solidFill>
              <a:latin typeface="Calibri"/>
              <a:ea typeface="Calibri"/>
              <a:cs typeface="Calibri"/>
              <a:sym typeface="Calibri"/>
            </a:endParaRPr>
          </a:p>
        </p:txBody>
      </p:sp>
      <p:sp>
        <p:nvSpPr>
          <p:cNvPr id="116" name="Google Shape;116;p8"/>
          <p:cNvSpPr/>
          <p:nvPr/>
        </p:nvSpPr>
        <p:spPr>
          <a:xfrm>
            <a:off x="514350" y="614363"/>
            <a:ext cx="7143750" cy="81468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475"/>
              <a:buFont typeface="Tinos"/>
              <a:buNone/>
            </a:pPr>
            <a:r>
              <a:rPr b="0" i="1" lang="en-US" sz="2475" u="none" cap="none" strike="noStrike">
                <a:solidFill>
                  <a:srgbClr val="1A1A1A"/>
                </a:solidFill>
                <a:latin typeface="Tinos"/>
                <a:ea typeface="Tinos"/>
                <a:cs typeface="Tinos"/>
                <a:sym typeface="Tinos"/>
              </a:rPr>
              <a:t>If Jesus were only a figure from the past, He could not have stopped Saul.</a:t>
            </a:r>
            <a:endParaRPr b="0" i="0" sz="2475" u="none" cap="none" strike="noStrike">
              <a:solidFill>
                <a:schemeClr val="dk1"/>
              </a:solidFill>
              <a:latin typeface="Calibri"/>
              <a:ea typeface="Calibri"/>
              <a:cs typeface="Calibri"/>
              <a:sym typeface="Calibri"/>
            </a:endParaRPr>
          </a:p>
        </p:txBody>
      </p:sp>
      <p:sp>
        <p:nvSpPr>
          <p:cNvPr id="117" name="Google Shape;117;p8"/>
          <p:cNvSpPr/>
          <p:nvPr/>
        </p:nvSpPr>
        <p:spPr>
          <a:xfrm>
            <a:off x="514350" y="1482998"/>
            <a:ext cx="285750" cy="14288"/>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18" name="Google Shape;118;p8"/>
          <p:cNvCxnSpPr/>
          <p:nvPr/>
        </p:nvCxnSpPr>
        <p:spPr>
          <a:xfrm>
            <a:off x="514350" y="1758032"/>
            <a:ext cx="8115300" cy="0"/>
          </a:xfrm>
          <a:prstGeom prst="straightConnector1">
            <a:avLst/>
          </a:prstGeom>
          <a:noFill/>
          <a:ln cap="flat" cmpd="sng" w="9525">
            <a:solidFill>
              <a:srgbClr val="E5E7EB"/>
            </a:solidFill>
            <a:prstDash val="solid"/>
            <a:round/>
            <a:headEnd len="sm" w="sm" type="none"/>
            <a:tailEnd len="sm" w="sm" type="none"/>
          </a:ln>
        </p:spPr>
      </p:cxnSp>
      <p:cxnSp>
        <p:nvCxnSpPr>
          <p:cNvPr id="119" name="Google Shape;119;p8"/>
          <p:cNvCxnSpPr/>
          <p:nvPr/>
        </p:nvCxnSpPr>
        <p:spPr>
          <a:xfrm>
            <a:off x="4425553" y="1918767"/>
            <a:ext cx="0" cy="2069009"/>
          </a:xfrm>
          <a:prstGeom prst="straightConnector1">
            <a:avLst/>
          </a:prstGeom>
          <a:noFill/>
          <a:ln cap="flat" cmpd="sng" w="9525">
            <a:solidFill>
              <a:srgbClr val="E5E7EB"/>
            </a:solidFill>
            <a:prstDash val="solid"/>
            <a:round/>
            <a:headEnd len="sm" w="sm" type="none"/>
            <a:tailEnd len="sm" w="sm" type="none"/>
          </a:ln>
        </p:spPr>
      </p:cxnSp>
      <p:sp>
        <p:nvSpPr>
          <p:cNvPr id="120" name="Google Shape;120;p8"/>
          <p:cNvSpPr/>
          <p:nvPr/>
        </p:nvSpPr>
        <p:spPr>
          <a:xfrm>
            <a:off x="514350" y="1918767"/>
            <a:ext cx="3286125" cy="786956"/>
          </a:xfrm>
          <a:prstGeom prst="rect">
            <a:avLst/>
          </a:prstGeom>
          <a:noFill/>
          <a:ln>
            <a:noFill/>
          </a:ln>
        </p:spPr>
        <p:txBody>
          <a:bodyPr anchorCtr="0" anchor="t" bIns="0" lIns="0" spcFirstLastPara="1" rIns="0" wrap="square" tIns="0">
            <a:noAutofit/>
          </a:bodyPr>
          <a:lstStyle/>
          <a:p>
            <a:pPr indent="0" lvl="0" marL="0" marR="0" rtl="0" algn="l">
              <a:lnSpc>
                <a:spcPct val="170106"/>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He could not have called him by name. He could not have exposed what was wrong within him. He could not have opened the way to a new life. But Jesus is alive. The One who appeared to His disciples over forty days also appeared to Saul.</a:t>
            </a:r>
            <a:endParaRPr b="0" i="0" sz="844" u="none" cap="none" strike="noStrike">
              <a:solidFill>
                <a:schemeClr val="dk1"/>
              </a:solidFill>
              <a:latin typeface="Calibri"/>
              <a:ea typeface="Calibri"/>
              <a:cs typeface="Calibri"/>
              <a:sym typeface="Calibri"/>
            </a:endParaRPr>
          </a:p>
        </p:txBody>
      </p:sp>
      <p:sp>
        <p:nvSpPr>
          <p:cNvPr id="121" name="Google Shape;121;p8"/>
          <p:cNvSpPr/>
          <p:nvPr/>
        </p:nvSpPr>
        <p:spPr>
          <a:xfrm>
            <a:off x="4714875" y="1918767"/>
            <a:ext cx="3286125" cy="786956"/>
          </a:xfrm>
          <a:prstGeom prst="rect">
            <a:avLst/>
          </a:prstGeom>
          <a:noFill/>
          <a:ln>
            <a:noFill/>
          </a:ln>
        </p:spPr>
        <p:txBody>
          <a:bodyPr anchorCtr="0" anchor="t" bIns="0" lIns="0" spcFirstLastPara="1" rIns="0" wrap="square" tIns="0">
            <a:noAutofit/>
          </a:bodyPr>
          <a:lstStyle/>
          <a:p>
            <a:pPr indent="0" lvl="0" marL="0" marR="0" rtl="0" algn="l">
              <a:lnSpc>
                <a:spcPct val="170106"/>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The One who had taught and prepared the apostles continued to intervene in the life of a man heading in the wrong direction. Acts does not merely record what the apostles did for Jesus; it shows the risen Christ continuing to work in and through people.</a:t>
            </a:r>
            <a:endParaRPr b="0" i="0" sz="844" u="none" cap="none" strike="noStrike">
              <a:solidFill>
                <a:schemeClr val="dk1"/>
              </a:solidFill>
              <a:latin typeface="Calibri"/>
              <a:ea typeface="Calibri"/>
              <a:cs typeface="Calibri"/>
              <a:sym typeface="Calibri"/>
            </a:endParaRPr>
          </a:p>
        </p:txBody>
      </p:sp>
      <p:cxnSp>
        <p:nvCxnSpPr>
          <p:cNvPr id="122" name="Google Shape;122;p8"/>
          <p:cNvCxnSpPr/>
          <p:nvPr/>
        </p:nvCxnSpPr>
        <p:spPr>
          <a:xfrm>
            <a:off x="514350" y="4077072"/>
            <a:ext cx="8115300" cy="0"/>
          </a:xfrm>
          <a:prstGeom prst="straightConnector1">
            <a:avLst/>
          </a:prstGeom>
          <a:noFill/>
          <a:ln cap="flat" cmpd="sng" w="9525">
            <a:solidFill>
              <a:srgbClr val="E5E7EB"/>
            </a:solidFill>
            <a:prstDash val="solid"/>
            <a:round/>
            <a:headEnd len="sm" w="sm" type="none"/>
            <a:tailEnd len="sm" w="sm" type="none"/>
          </a:ln>
        </p:spPr>
      </p:cxnSp>
      <p:sp>
        <p:nvSpPr>
          <p:cNvPr id="123" name="Google Shape;123;p8"/>
          <p:cNvSpPr/>
          <p:nvPr/>
        </p:nvSpPr>
        <p:spPr>
          <a:xfrm>
            <a:off x="1000125" y="4223519"/>
            <a:ext cx="7143750" cy="519931"/>
          </a:xfrm>
          <a:prstGeom prst="rect">
            <a:avLst/>
          </a:prstGeom>
          <a:noFill/>
          <a:ln>
            <a:noFill/>
          </a:ln>
        </p:spPr>
        <p:txBody>
          <a:bodyPr anchorCtr="0" anchor="t" bIns="0" lIns="0" spcFirstLastPara="1" rIns="0" wrap="square" tIns="0">
            <a:noAutofit/>
          </a:bodyPr>
          <a:lstStyle/>
          <a:p>
            <a:pPr indent="0" lvl="0" marL="0" marR="0" rtl="0" algn="ctr">
              <a:lnSpc>
                <a:spcPct val="139917"/>
              </a:lnSpc>
              <a:spcBef>
                <a:spcPts val="0"/>
              </a:spcBef>
              <a:spcAft>
                <a:spcPts val="0"/>
              </a:spcAft>
              <a:buClr>
                <a:srgbClr val="1A1A1A"/>
              </a:buClr>
              <a:buSzPts val="1463"/>
              <a:buFont typeface="Tinos"/>
              <a:buNone/>
            </a:pPr>
            <a:r>
              <a:rPr b="0" i="1" lang="en-US" sz="1463" u="none" cap="none" strike="noStrike">
                <a:solidFill>
                  <a:srgbClr val="1A1A1A"/>
                </a:solidFill>
                <a:latin typeface="Tinos"/>
                <a:ea typeface="Tinos"/>
                <a:cs typeface="Tinos"/>
                <a:sym typeface="Tinos"/>
              </a:rPr>
              <a:t>Our hope is not found in Saul’s fall. Our hope is found in the One standing before him — the living Jesus.</a:t>
            </a:r>
            <a:endParaRPr b="0" i="0" sz="1463"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9"/>
          <p:cNvSpPr/>
          <p:nvPr/>
        </p:nvSpPr>
        <p:spPr>
          <a:xfrm>
            <a:off x="628650" y="1423727"/>
            <a:ext cx="85153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03 / 04</a:t>
            </a:r>
            <a:endParaRPr b="0" i="0" sz="800" u="none" cap="none" strike="noStrike">
              <a:solidFill>
                <a:schemeClr val="dk1"/>
              </a:solidFill>
              <a:latin typeface="Calibri"/>
              <a:ea typeface="Calibri"/>
              <a:cs typeface="Calibri"/>
              <a:sym typeface="Calibri"/>
            </a:endParaRPr>
          </a:p>
        </p:txBody>
      </p:sp>
      <p:sp>
        <p:nvSpPr>
          <p:cNvPr id="130" name="Google Shape;130;p9"/>
          <p:cNvSpPr/>
          <p:nvPr/>
        </p:nvSpPr>
        <p:spPr>
          <a:xfrm>
            <a:off x="628650" y="1666615"/>
            <a:ext cx="342900" cy="21431"/>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1" name="Google Shape;131;p9"/>
          <p:cNvSpPr/>
          <p:nvPr/>
        </p:nvSpPr>
        <p:spPr>
          <a:xfrm>
            <a:off x="628650" y="1916646"/>
            <a:ext cx="7000875" cy="1323889"/>
          </a:xfrm>
          <a:prstGeom prst="rect">
            <a:avLst/>
          </a:prstGeom>
          <a:noFill/>
          <a:ln>
            <a:noFill/>
          </a:ln>
        </p:spPr>
        <p:txBody>
          <a:bodyPr anchorCtr="0" anchor="t" bIns="0" lIns="0" spcFirstLastPara="1" rIns="0" wrap="square" tIns="0">
            <a:noAutofit/>
          </a:bodyPr>
          <a:lstStyle/>
          <a:p>
            <a:pPr indent="0" lvl="0" marL="0" marR="0" rtl="0" algn="l">
              <a:lnSpc>
                <a:spcPct val="109981"/>
              </a:lnSpc>
              <a:spcBef>
                <a:spcPts val="0"/>
              </a:spcBef>
              <a:spcAft>
                <a:spcPts val="0"/>
              </a:spcAft>
              <a:buClr>
                <a:srgbClr val="1A1A1A"/>
              </a:buClr>
              <a:buSzPts val="4388"/>
              <a:buFont typeface="Tinos"/>
              <a:buNone/>
            </a:pPr>
            <a:r>
              <a:rPr b="0" i="1" lang="en-US" sz="4388" u="none" cap="none" strike="noStrike">
                <a:solidFill>
                  <a:srgbClr val="1A1A1A"/>
                </a:solidFill>
                <a:latin typeface="Tinos"/>
                <a:ea typeface="Tinos"/>
                <a:cs typeface="Tinos"/>
                <a:sym typeface="Tinos"/>
              </a:rPr>
              <a:t>He did not leave Saul on the ground</a:t>
            </a:r>
            <a:endParaRPr b="0" i="0" sz="4388" u="none" cap="none" strike="noStrike">
              <a:solidFill>
                <a:schemeClr val="dk1"/>
              </a:solidFill>
              <a:latin typeface="Calibri"/>
              <a:ea typeface="Calibri"/>
              <a:cs typeface="Calibri"/>
              <a:sym typeface="Calibri"/>
            </a:endParaRPr>
          </a:p>
        </p:txBody>
      </p:sp>
      <p:sp>
        <p:nvSpPr>
          <p:cNvPr id="132" name="Google Shape;132;p9"/>
          <p:cNvSpPr/>
          <p:nvPr/>
        </p:nvSpPr>
        <p:spPr>
          <a:xfrm>
            <a:off x="628650" y="3371069"/>
            <a:ext cx="6326505" cy="237606"/>
          </a:xfrm>
          <a:prstGeom prst="rect">
            <a:avLst/>
          </a:prstGeom>
          <a:noFill/>
          <a:ln>
            <a:noFill/>
          </a:ln>
        </p:spPr>
        <p:txBody>
          <a:bodyPr anchorCtr="0" anchor="t" bIns="0" lIns="0" spcFirstLastPara="1" rIns="0" wrap="square" tIns="0">
            <a:noAutofit/>
          </a:bodyPr>
          <a:lstStyle/>
          <a:p>
            <a:pPr indent="0" lvl="0" marL="0" marR="0" rtl="0" algn="l">
              <a:lnSpc>
                <a:spcPct val="139983"/>
              </a:lnSpc>
              <a:spcBef>
                <a:spcPts val="0"/>
              </a:spcBef>
              <a:spcAft>
                <a:spcPts val="0"/>
              </a:spcAft>
              <a:buClr>
                <a:srgbClr val="6B7280"/>
              </a:buClr>
              <a:buSzPts val="1238"/>
              <a:buFont typeface="Carlito"/>
              <a:buNone/>
            </a:pPr>
            <a:r>
              <a:rPr b="0" i="0" lang="en-US" sz="1238" u="none" cap="none" strike="noStrike">
                <a:solidFill>
                  <a:srgbClr val="6B7280"/>
                </a:solidFill>
                <a:latin typeface="Carlito"/>
                <a:ea typeface="Carlito"/>
                <a:cs typeface="Carlito"/>
                <a:sym typeface="Carlito"/>
              </a:rPr>
              <a:t>Jesus came not to crush Saul, but to raise him.</a:t>
            </a:r>
            <a:endParaRPr b="0" i="0" sz="1238" u="none" cap="none" strike="noStrike">
              <a:solidFill>
                <a:schemeClr val="dk1"/>
              </a:solidFill>
              <a:latin typeface="Calibri"/>
              <a:ea typeface="Calibri"/>
              <a:cs typeface="Calibri"/>
              <a:sym typeface="Calibri"/>
            </a:endParaRPr>
          </a:p>
        </p:txBody>
      </p:sp>
      <p:sp>
        <p:nvSpPr>
          <p:cNvPr id="133" name="Google Shape;133;p9"/>
          <p:cNvSpPr/>
          <p:nvPr/>
        </p:nvSpPr>
        <p:spPr>
          <a:xfrm>
            <a:off x="7977448" y="4500563"/>
            <a:ext cx="712115"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B7280"/>
              </a:buClr>
              <a:buSzPts val="800"/>
              <a:buFont typeface="Carlito"/>
              <a:buNone/>
            </a:pPr>
            <a:r>
              <a:rPr b="0" i="0" lang="en-US" sz="800" u="none" cap="none" strike="noStrike">
                <a:solidFill>
                  <a:srgbClr val="6B7280"/>
                </a:solidFill>
                <a:latin typeface="Carlito"/>
                <a:ea typeface="Carlito"/>
                <a:cs typeface="Carlito"/>
                <a:sym typeface="Carlito"/>
              </a:rPr>
              <a:t>Part Three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cxnSp>
        <p:nvCxnSpPr>
          <p:cNvPr id="139" name="Google Shape;139;p10"/>
          <p:cNvCxnSpPr/>
          <p:nvPr/>
        </p:nvCxnSpPr>
        <p:spPr>
          <a:xfrm>
            <a:off x="514350" y="1057945"/>
            <a:ext cx="8115300" cy="0"/>
          </a:xfrm>
          <a:prstGeom prst="straightConnector1">
            <a:avLst/>
          </a:prstGeom>
          <a:noFill/>
          <a:ln cap="flat" cmpd="sng" w="9525">
            <a:solidFill>
              <a:srgbClr val="E5E7EB"/>
            </a:solidFill>
            <a:prstDash val="solid"/>
            <a:round/>
            <a:headEnd len="sm" w="sm" type="none"/>
            <a:tailEnd len="sm" w="sm" type="none"/>
          </a:ln>
        </p:spPr>
      </p:cxnSp>
      <p:sp>
        <p:nvSpPr>
          <p:cNvPr id="140" name="Google Shape;140;p10"/>
          <p:cNvSpPr/>
          <p:nvPr/>
        </p:nvSpPr>
        <p:spPr>
          <a:xfrm>
            <a:off x="514350" y="400050"/>
            <a:ext cx="811530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ANANIAS · ACTS 9:10–19</a:t>
            </a:r>
            <a:endParaRPr b="0" i="0" sz="800" u="none" cap="none" strike="noStrike">
              <a:solidFill>
                <a:schemeClr val="dk1"/>
              </a:solidFill>
              <a:latin typeface="Calibri"/>
              <a:ea typeface="Calibri"/>
              <a:cs typeface="Calibri"/>
              <a:sym typeface="Calibri"/>
            </a:endParaRPr>
          </a:p>
        </p:txBody>
      </p:sp>
      <p:sp>
        <p:nvSpPr>
          <p:cNvPr id="141" name="Google Shape;141;p10"/>
          <p:cNvSpPr/>
          <p:nvPr/>
        </p:nvSpPr>
        <p:spPr>
          <a:xfrm>
            <a:off x="514350" y="614363"/>
            <a:ext cx="8115300" cy="325710"/>
          </a:xfrm>
          <a:prstGeom prst="rect">
            <a:avLst/>
          </a:prstGeom>
          <a:noFill/>
          <a:ln>
            <a:noFill/>
          </a:ln>
        </p:spPr>
        <p:txBody>
          <a:bodyPr anchorCtr="0" anchor="t" bIns="0" lIns="0" spcFirstLastPara="1" rIns="0" wrap="square" tIns="0">
            <a:noAutofit/>
          </a:bodyPr>
          <a:lstStyle/>
          <a:p>
            <a:pPr indent="0" lvl="0" marL="0" marR="0" rtl="0" algn="l">
              <a:lnSpc>
                <a:spcPct val="119971"/>
              </a:lnSpc>
              <a:spcBef>
                <a:spcPts val="0"/>
              </a:spcBef>
              <a:spcAft>
                <a:spcPts val="0"/>
              </a:spcAft>
              <a:buClr>
                <a:srgbClr val="1A1A1A"/>
              </a:buClr>
              <a:buSzPts val="2138"/>
              <a:buFont typeface="Tinos"/>
              <a:buNone/>
            </a:pPr>
            <a:r>
              <a:rPr b="0" i="1" lang="en-US" sz="2138" u="none" cap="none" strike="noStrike">
                <a:solidFill>
                  <a:srgbClr val="1A1A1A"/>
                </a:solidFill>
                <a:latin typeface="Tinos"/>
                <a:ea typeface="Tinos"/>
                <a:cs typeface="Tinos"/>
                <a:sym typeface="Tinos"/>
              </a:rPr>
              <a:t>“Brother Saul” — the Lord who sends a disciple.</a:t>
            </a:r>
            <a:endParaRPr b="0" i="0" sz="2138" u="none" cap="none" strike="noStrike">
              <a:solidFill>
                <a:schemeClr val="dk1"/>
              </a:solidFill>
              <a:latin typeface="Calibri"/>
              <a:ea typeface="Calibri"/>
              <a:cs typeface="Calibri"/>
              <a:sym typeface="Calibri"/>
            </a:endParaRPr>
          </a:p>
        </p:txBody>
      </p:sp>
      <p:sp>
        <p:nvSpPr>
          <p:cNvPr id="142" name="Google Shape;142;p10"/>
          <p:cNvSpPr/>
          <p:nvPr/>
        </p:nvSpPr>
        <p:spPr>
          <a:xfrm>
            <a:off x="1214438" y="1304404"/>
            <a:ext cx="21431" cy="571500"/>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3" name="Google Shape;143;p10"/>
          <p:cNvSpPr/>
          <p:nvPr/>
        </p:nvSpPr>
        <p:spPr>
          <a:xfrm>
            <a:off x="1407319" y="1261542"/>
            <a:ext cx="6522244" cy="561526"/>
          </a:xfrm>
          <a:prstGeom prst="rect">
            <a:avLst/>
          </a:prstGeom>
          <a:noFill/>
          <a:ln>
            <a:noFill/>
          </a:ln>
        </p:spPr>
        <p:txBody>
          <a:bodyPr anchorCtr="0" anchor="t" bIns="0" lIns="0" spcFirstLastPara="1" rIns="0" wrap="square" tIns="0">
            <a:noAutofit/>
          </a:bodyPr>
          <a:lstStyle/>
          <a:p>
            <a:pPr indent="0" lvl="0" marL="0" marR="0" rtl="0" algn="l">
              <a:lnSpc>
                <a:spcPct val="139917"/>
              </a:lnSpc>
              <a:spcBef>
                <a:spcPts val="0"/>
              </a:spcBef>
              <a:spcAft>
                <a:spcPts val="0"/>
              </a:spcAft>
              <a:buClr>
                <a:srgbClr val="1A1A1A"/>
              </a:buClr>
              <a:buSzPts val="1463"/>
              <a:buFont typeface="Tinos"/>
              <a:buNone/>
            </a:pPr>
            <a:r>
              <a:rPr b="0" i="1" lang="en-US" sz="1463" u="none" cap="none" strike="noStrike">
                <a:solidFill>
                  <a:srgbClr val="1A1A1A"/>
                </a:solidFill>
                <a:latin typeface="Tinos"/>
                <a:ea typeface="Tinos"/>
                <a:cs typeface="Tinos"/>
                <a:sym typeface="Tinos"/>
              </a:rPr>
              <a:t>“Go, for this man is My chosen instrument to carry My name before the Gentiles, their kings, and the people of Israel.”</a:t>
            </a:r>
            <a:endParaRPr b="0" i="0" sz="1463" u="none" cap="none" strike="noStrike">
              <a:solidFill>
                <a:schemeClr val="dk1"/>
              </a:solidFill>
              <a:latin typeface="Calibri"/>
              <a:ea typeface="Calibri"/>
              <a:cs typeface="Calibri"/>
              <a:sym typeface="Calibri"/>
            </a:endParaRPr>
          </a:p>
        </p:txBody>
      </p:sp>
      <p:sp>
        <p:nvSpPr>
          <p:cNvPr id="144" name="Google Shape;144;p10"/>
          <p:cNvSpPr/>
          <p:nvPr/>
        </p:nvSpPr>
        <p:spPr>
          <a:xfrm>
            <a:off x="1407319" y="1895773"/>
            <a:ext cx="7705351"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6B7280"/>
              </a:buClr>
              <a:buSzPts val="800"/>
              <a:buFont typeface="Arial"/>
              <a:buNone/>
            </a:pPr>
            <a:r>
              <a:rPr b="0" i="0" lang="en-US" sz="800" u="none" cap="none" strike="noStrike">
                <a:solidFill>
                  <a:srgbClr val="6B7280"/>
                </a:solidFill>
                <a:latin typeface="Arial"/>
                <a:ea typeface="Arial"/>
                <a:cs typeface="Arial"/>
                <a:sym typeface="Arial"/>
              </a:rPr>
              <a:t>ACTS 9:15 · THE LORD TO ANANIAS</a:t>
            </a:r>
            <a:endParaRPr b="0" i="0" sz="800" u="none" cap="none" strike="noStrike">
              <a:solidFill>
                <a:schemeClr val="dk1"/>
              </a:solidFill>
              <a:latin typeface="Calibri"/>
              <a:ea typeface="Calibri"/>
              <a:cs typeface="Calibri"/>
              <a:sym typeface="Calibri"/>
            </a:endParaRPr>
          </a:p>
        </p:txBody>
      </p:sp>
      <p:sp>
        <p:nvSpPr>
          <p:cNvPr id="145" name="Google Shape;145;p10"/>
          <p:cNvSpPr/>
          <p:nvPr/>
        </p:nvSpPr>
        <p:spPr>
          <a:xfrm>
            <a:off x="1143000" y="4196953"/>
            <a:ext cx="7486650" cy="590217"/>
          </a:xfrm>
          <a:prstGeom prst="rect">
            <a:avLst/>
          </a:prstGeom>
          <a:noFill/>
          <a:ln>
            <a:noFill/>
          </a:ln>
        </p:spPr>
        <p:txBody>
          <a:bodyPr anchorCtr="0" anchor="t" bIns="0" lIns="0" spcFirstLastPara="1" rIns="0" wrap="square" tIns="0">
            <a:noAutofit/>
          </a:bodyPr>
          <a:lstStyle/>
          <a:p>
            <a:pPr indent="0" lvl="0" marL="0" marR="0" rtl="0" algn="l">
              <a:lnSpc>
                <a:spcPct val="170106"/>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Jesus saw a man whom Ananias could not yet see. In the eyes of many believers, Saul was still their persecutor. But Jesus saw someone whom His grace would transform. Ananias went, placed his hands on Saul, and called him “Brother Saul.” Something like scales fell from Saul’s eyes. He could see, stood up, was baptised, ate, and regained his strength.</a:t>
            </a:r>
            <a:endParaRPr b="0" i="0" sz="844"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cxnSp>
        <p:nvCxnSpPr>
          <p:cNvPr id="151" name="Google Shape;151;p11"/>
          <p:cNvCxnSpPr/>
          <p:nvPr/>
        </p:nvCxnSpPr>
        <p:spPr>
          <a:xfrm>
            <a:off x="514350" y="1075134"/>
            <a:ext cx="8115300" cy="0"/>
          </a:xfrm>
          <a:prstGeom prst="straightConnector1">
            <a:avLst/>
          </a:prstGeom>
          <a:noFill/>
          <a:ln cap="flat" cmpd="sng" w="9525">
            <a:solidFill>
              <a:srgbClr val="E5E7EB"/>
            </a:solidFill>
            <a:prstDash val="solid"/>
            <a:round/>
            <a:headEnd len="sm" w="sm" type="none"/>
            <a:tailEnd len="sm" w="sm" type="none"/>
          </a:ln>
        </p:spPr>
      </p:cxnSp>
      <p:sp>
        <p:nvSpPr>
          <p:cNvPr id="152" name="Google Shape;152;p11"/>
          <p:cNvSpPr/>
          <p:nvPr/>
        </p:nvSpPr>
        <p:spPr>
          <a:xfrm>
            <a:off x="514350" y="400050"/>
            <a:ext cx="811530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WHAT THE LORD DID · ACTS 9</a:t>
            </a:r>
            <a:endParaRPr b="0" i="0" sz="800" u="none" cap="none" strike="noStrike">
              <a:solidFill>
                <a:schemeClr val="dk1"/>
              </a:solidFill>
              <a:latin typeface="Calibri"/>
              <a:ea typeface="Calibri"/>
              <a:cs typeface="Calibri"/>
              <a:sym typeface="Calibri"/>
            </a:endParaRPr>
          </a:p>
        </p:txBody>
      </p:sp>
      <p:sp>
        <p:nvSpPr>
          <p:cNvPr id="153" name="Google Shape;153;p11"/>
          <p:cNvSpPr/>
          <p:nvPr/>
        </p:nvSpPr>
        <p:spPr>
          <a:xfrm>
            <a:off x="514350" y="614363"/>
            <a:ext cx="81153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250"/>
              <a:buFont typeface="Tinos"/>
              <a:buNone/>
            </a:pPr>
            <a:r>
              <a:rPr b="0" i="1" lang="en-US" sz="2250" u="none" cap="none" strike="noStrike">
                <a:solidFill>
                  <a:srgbClr val="1A1A1A"/>
                </a:solidFill>
                <a:latin typeface="Tinos"/>
                <a:ea typeface="Tinos"/>
                <a:cs typeface="Tinos"/>
                <a:sym typeface="Tinos"/>
              </a:rPr>
              <a:t>Six movements of grace.</a:t>
            </a:r>
            <a:endParaRPr b="0" i="0" sz="2250" u="none" cap="none" strike="noStrike">
              <a:solidFill>
                <a:schemeClr val="dk1"/>
              </a:solidFill>
              <a:latin typeface="Calibri"/>
              <a:ea typeface="Calibri"/>
              <a:cs typeface="Calibri"/>
              <a:sym typeface="Calibri"/>
            </a:endParaRPr>
          </a:p>
        </p:txBody>
      </p:sp>
      <p:sp>
        <p:nvSpPr>
          <p:cNvPr id="154" name="Google Shape;154;p11"/>
          <p:cNvSpPr/>
          <p:nvPr/>
        </p:nvSpPr>
        <p:spPr>
          <a:xfrm>
            <a:off x="517922" y="1225153"/>
            <a:ext cx="2621756" cy="1351620"/>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5" name="Google Shape;155;p11"/>
          <p:cNvSpPr/>
          <p:nvPr/>
        </p:nvSpPr>
        <p:spPr>
          <a:xfrm>
            <a:off x="678656" y="1385888"/>
            <a:ext cx="2300288"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a:t>
            </a:r>
            <a:endParaRPr b="0" i="0" sz="800" u="none" cap="none" strike="noStrike">
              <a:solidFill>
                <a:schemeClr val="dk1"/>
              </a:solidFill>
              <a:latin typeface="Calibri"/>
              <a:ea typeface="Calibri"/>
              <a:cs typeface="Calibri"/>
              <a:sym typeface="Calibri"/>
            </a:endParaRPr>
          </a:p>
        </p:txBody>
      </p:sp>
      <p:sp>
        <p:nvSpPr>
          <p:cNvPr id="156" name="Google Shape;156;p11"/>
          <p:cNvSpPr/>
          <p:nvPr/>
        </p:nvSpPr>
        <p:spPr>
          <a:xfrm>
            <a:off x="678656" y="1596628"/>
            <a:ext cx="2300288" cy="43205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Met Saul while Saul was heading the wrong way.</a:t>
            </a:r>
            <a:endParaRPr b="0" i="0" sz="1125" u="none" cap="none" strike="noStrike">
              <a:solidFill>
                <a:schemeClr val="dk1"/>
              </a:solidFill>
              <a:latin typeface="Calibri"/>
              <a:ea typeface="Calibri"/>
              <a:cs typeface="Calibri"/>
              <a:sym typeface="Calibri"/>
            </a:endParaRPr>
          </a:p>
        </p:txBody>
      </p:sp>
      <p:sp>
        <p:nvSpPr>
          <p:cNvPr id="157" name="Google Shape;157;p11"/>
          <p:cNvSpPr/>
          <p:nvPr/>
        </p:nvSpPr>
        <p:spPr>
          <a:xfrm>
            <a:off x="3261122" y="1225153"/>
            <a:ext cx="2621756" cy="1351620"/>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8" name="Google Shape;158;p11"/>
          <p:cNvSpPr/>
          <p:nvPr/>
        </p:nvSpPr>
        <p:spPr>
          <a:xfrm>
            <a:off x="3421856" y="1385888"/>
            <a:ext cx="2300288"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a:t>
            </a:r>
            <a:endParaRPr b="0" i="0" sz="800" u="none" cap="none" strike="noStrike">
              <a:solidFill>
                <a:schemeClr val="dk1"/>
              </a:solidFill>
              <a:latin typeface="Calibri"/>
              <a:ea typeface="Calibri"/>
              <a:cs typeface="Calibri"/>
              <a:sym typeface="Calibri"/>
            </a:endParaRPr>
          </a:p>
        </p:txBody>
      </p:sp>
      <p:sp>
        <p:nvSpPr>
          <p:cNvPr id="159" name="Google Shape;159;p11"/>
          <p:cNvSpPr/>
          <p:nvPr/>
        </p:nvSpPr>
        <p:spPr>
          <a:xfrm>
            <a:off x="3421856" y="1596628"/>
            <a:ext cx="2300288" cy="43205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Called Saul by name and confronted him with truth.</a:t>
            </a:r>
            <a:endParaRPr b="0" i="0" sz="1125" u="none" cap="none" strike="noStrike">
              <a:solidFill>
                <a:schemeClr val="dk1"/>
              </a:solidFill>
              <a:latin typeface="Calibri"/>
              <a:ea typeface="Calibri"/>
              <a:cs typeface="Calibri"/>
              <a:sym typeface="Calibri"/>
            </a:endParaRPr>
          </a:p>
        </p:txBody>
      </p:sp>
      <p:sp>
        <p:nvSpPr>
          <p:cNvPr id="160" name="Google Shape;160;p11"/>
          <p:cNvSpPr/>
          <p:nvPr/>
        </p:nvSpPr>
        <p:spPr>
          <a:xfrm>
            <a:off x="6004322" y="1225153"/>
            <a:ext cx="2621756" cy="1351620"/>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1" name="Google Shape;161;p11"/>
          <p:cNvSpPr/>
          <p:nvPr/>
        </p:nvSpPr>
        <p:spPr>
          <a:xfrm>
            <a:off x="6165056" y="1385888"/>
            <a:ext cx="2300288"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III</a:t>
            </a:r>
            <a:endParaRPr b="0" i="0" sz="800" u="none" cap="none" strike="noStrike">
              <a:solidFill>
                <a:schemeClr val="dk1"/>
              </a:solidFill>
              <a:latin typeface="Calibri"/>
              <a:ea typeface="Calibri"/>
              <a:cs typeface="Calibri"/>
              <a:sym typeface="Calibri"/>
            </a:endParaRPr>
          </a:p>
        </p:txBody>
      </p:sp>
      <p:sp>
        <p:nvSpPr>
          <p:cNvPr id="162" name="Google Shape;162;p11"/>
          <p:cNvSpPr/>
          <p:nvPr/>
        </p:nvSpPr>
        <p:spPr>
          <a:xfrm>
            <a:off x="6165056" y="1596628"/>
            <a:ext cx="2410015" cy="2160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Sent a disciple to stand beside him.</a:t>
            </a:r>
            <a:endParaRPr b="0" i="0" sz="1125" u="none" cap="none" strike="noStrike">
              <a:solidFill>
                <a:schemeClr val="dk1"/>
              </a:solidFill>
              <a:latin typeface="Calibri"/>
              <a:ea typeface="Calibri"/>
              <a:cs typeface="Calibri"/>
              <a:sym typeface="Calibri"/>
            </a:endParaRPr>
          </a:p>
        </p:txBody>
      </p:sp>
      <p:sp>
        <p:nvSpPr>
          <p:cNvPr id="163" name="Google Shape;163;p11"/>
          <p:cNvSpPr/>
          <p:nvPr/>
        </p:nvSpPr>
        <p:spPr>
          <a:xfrm>
            <a:off x="517922" y="2698217"/>
            <a:ext cx="2621756" cy="1351620"/>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4" name="Google Shape;164;p11"/>
          <p:cNvSpPr/>
          <p:nvPr/>
        </p:nvSpPr>
        <p:spPr>
          <a:xfrm>
            <a:off x="678656" y="2858951"/>
            <a:ext cx="2300288"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IV</a:t>
            </a:r>
            <a:endParaRPr b="0" i="0" sz="800" u="none" cap="none" strike="noStrike">
              <a:solidFill>
                <a:schemeClr val="dk1"/>
              </a:solidFill>
              <a:latin typeface="Calibri"/>
              <a:ea typeface="Calibri"/>
              <a:cs typeface="Calibri"/>
              <a:sym typeface="Calibri"/>
            </a:endParaRPr>
          </a:p>
        </p:txBody>
      </p:sp>
      <p:sp>
        <p:nvSpPr>
          <p:cNvPr id="165" name="Google Shape;165;p11"/>
          <p:cNvSpPr/>
          <p:nvPr/>
        </p:nvSpPr>
        <p:spPr>
          <a:xfrm>
            <a:off x="678656" y="3069692"/>
            <a:ext cx="2300288" cy="43205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Restored Saul’s sight and filled him with the Spirit.</a:t>
            </a:r>
            <a:endParaRPr b="0" i="0" sz="1125" u="none" cap="none" strike="noStrike">
              <a:solidFill>
                <a:schemeClr val="dk1"/>
              </a:solidFill>
              <a:latin typeface="Calibri"/>
              <a:ea typeface="Calibri"/>
              <a:cs typeface="Calibri"/>
              <a:sym typeface="Calibri"/>
            </a:endParaRPr>
          </a:p>
        </p:txBody>
      </p:sp>
      <p:sp>
        <p:nvSpPr>
          <p:cNvPr id="166" name="Google Shape;166;p11"/>
          <p:cNvSpPr/>
          <p:nvPr/>
        </p:nvSpPr>
        <p:spPr>
          <a:xfrm>
            <a:off x="3261122" y="2698217"/>
            <a:ext cx="2621756" cy="1351620"/>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7" name="Google Shape;167;p11"/>
          <p:cNvSpPr/>
          <p:nvPr/>
        </p:nvSpPr>
        <p:spPr>
          <a:xfrm>
            <a:off x="3421856" y="2858951"/>
            <a:ext cx="2300288"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V</a:t>
            </a:r>
            <a:endParaRPr b="0" i="0" sz="800" u="none" cap="none" strike="noStrike">
              <a:solidFill>
                <a:schemeClr val="dk1"/>
              </a:solidFill>
              <a:latin typeface="Calibri"/>
              <a:ea typeface="Calibri"/>
              <a:cs typeface="Calibri"/>
              <a:sym typeface="Calibri"/>
            </a:endParaRPr>
          </a:p>
        </p:txBody>
      </p:sp>
      <p:sp>
        <p:nvSpPr>
          <p:cNvPr id="168" name="Google Shape;168;p11"/>
          <p:cNvSpPr/>
          <p:nvPr/>
        </p:nvSpPr>
        <p:spPr>
          <a:xfrm>
            <a:off x="3421856" y="3069692"/>
            <a:ext cx="2300288" cy="43205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Brought the persecutor into the community he had harmed.</a:t>
            </a:r>
            <a:endParaRPr b="0" i="0" sz="1125" u="none" cap="none" strike="noStrike">
              <a:solidFill>
                <a:schemeClr val="dk1"/>
              </a:solidFill>
              <a:latin typeface="Calibri"/>
              <a:ea typeface="Calibri"/>
              <a:cs typeface="Calibri"/>
              <a:sym typeface="Calibri"/>
            </a:endParaRPr>
          </a:p>
        </p:txBody>
      </p:sp>
      <p:sp>
        <p:nvSpPr>
          <p:cNvPr id="169" name="Google Shape;169;p11"/>
          <p:cNvSpPr/>
          <p:nvPr/>
        </p:nvSpPr>
        <p:spPr>
          <a:xfrm>
            <a:off x="6004322" y="2698217"/>
            <a:ext cx="2621756" cy="1351620"/>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0" name="Google Shape;170;p11"/>
          <p:cNvSpPr/>
          <p:nvPr/>
        </p:nvSpPr>
        <p:spPr>
          <a:xfrm>
            <a:off x="6165056" y="2858951"/>
            <a:ext cx="2300288"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VI</a:t>
            </a:r>
            <a:endParaRPr b="0" i="0" sz="800" u="none" cap="none" strike="noStrike">
              <a:solidFill>
                <a:schemeClr val="dk1"/>
              </a:solidFill>
              <a:latin typeface="Calibri"/>
              <a:ea typeface="Calibri"/>
              <a:cs typeface="Calibri"/>
              <a:sym typeface="Calibri"/>
            </a:endParaRPr>
          </a:p>
        </p:txBody>
      </p:sp>
      <p:sp>
        <p:nvSpPr>
          <p:cNvPr id="171" name="Google Shape;171;p11"/>
          <p:cNvSpPr/>
          <p:nvPr/>
        </p:nvSpPr>
        <p:spPr>
          <a:xfrm>
            <a:off x="6165056" y="3069692"/>
            <a:ext cx="2410015" cy="2160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Gave Saul a new direction and purpose.</a:t>
            </a:r>
            <a:endParaRPr b="0" i="0" sz="1125" u="none" cap="none" strike="noStrike">
              <a:solidFill>
                <a:schemeClr val="dk1"/>
              </a:solidFill>
              <a:latin typeface="Calibri"/>
              <a:ea typeface="Calibri"/>
              <a:cs typeface="Calibri"/>
              <a:sym typeface="Calibri"/>
            </a:endParaRPr>
          </a:p>
        </p:txBody>
      </p:sp>
      <p:cxnSp>
        <p:nvCxnSpPr>
          <p:cNvPr id="172" name="Google Shape;172;p11"/>
          <p:cNvCxnSpPr/>
          <p:nvPr/>
        </p:nvCxnSpPr>
        <p:spPr>
          <a:xfrm>
            <a:off x="514350" y="4156993"/>
            <a:ext cx="8115300" cy="0"/>
          </a:xfrm>
          <a:prstGeom prst="straightConnector1">
            <a:avLst/>
          </a:prstGeom>
          <a:noFill/>
          <a:ln cap="flat" cmpd="sng" w="9525">
            <a:solidFill>
              <a:srgbClr val="E5E7EB"/>
            </a:solidFill>
            <a:prstDash val="solid"/>
            <a:round/>
            <a:headEnd len="sm" w="sm" type="none"/>
            <a:tailEnd len="sm" w="sm" type="none"/>
          </a:ln>
        </p:spPr>
      </p:cxnSp>
      <p:sp>
        <p:nvSpPr>
          <p:cNvPr id="173" name="Google Shape;173;p11"/>
          <p:cNvSpPr/>
          <p:nvPr/>
        </p:nvSpPr>
        <p:spPr>
          <a:xfrm>
            <a:off x="1000125" y="4303440"/>
            <a:ext cx="7143750" cy="440010"/>
          </a:xfrm>
          <a:prstGeom prst="rect">
            <a:avLst/>
          </a:prstGeom>
          <a:noFill/>
          <a:ln>
            <a:noFill/>
          </a:ln>
        </p:spPr>
        <p:txBody>
          <a:bodyPr anchorCtr="0" anchor="t" bIns="0" lIns="0" spcFirstLastPara="1" rIns="0" wrap="square" tIns="0">
            <a:noAutofit/>
          </a:bodyPr>
          <a:lstStyle/>
          <a:p>
            <a:pPr indent="0" lvl="0" marL="0" marR="0" rtl="0" algn="ctr">
              <a:lnSpc>
                <a:spcPct val="139983"/>
              </a:lnSpc>
              <a:spcBef>
                <a:spcPts val="0"/>
              </a:spcBef>
              <a:spcAft>
                <a:spcPts val="0"/>
              </a:spcAft>
              <a:buClr>
                <a:srgbClr val="1A1A1A"/>
              </a:buClr>
              <a:buSzPts val="1238"/>
              <a:buFont typeface="Tinos"/>
              <a:buNone/>
            </a:pPr>
            <a:r>
              <a:rPr b="0" i="1" lang="en-US" sz="1238" u="none" cap="none" strike="noStrike">
                <a:solidFill>
                  <a:srgbClr val="1A1A1A"/>
                </a:solidFill>
                <a:latin typeface="Tinos"/>
                <a:ea typeface="Tinos"/>
                <a:cs typeface="Tinos"/>
                <a:sym typeface="Tinos"/>
              </a:rPr>
              <a:t>He does not merely forgive the past. He creates a new future. He does not merely correct behaviour. He transforms people.</a:t>
            </a:r>
            <a:endParaRPr b="0" i="0" sz="1238"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2"/>
          <p:cNvSpPr/>
          <p:nvPr/>
        </p:nvSpPr>
        <p:spPr>
          <a:xfrm>
            <a:off x="514350" y="400050"/>
            <a:ext cx="86296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THE SILENT YEARS</a:t>
            </a:r>
            <a:endParaRPr b="0" i="0" sz="800" u="none" cap="none" strike="noStrike">
              <a:solidFill>
                <a:schemeClr val="dk1"/>
              </a:solidFill>
              <a:latin typeface="Calibri"/>
              <a:ea typeface="Calibri"/>
              <a:cs typeface="Calibri"/>
              <a:sym typeface="Calibri"/>
            </a:endParaRPr>
          </a:p>
        </p:txBody>
      </p:sp>
      <p:sp>
        <p:nvSpPr>
          <p:cNvPr id="180" name="Google Shape;180;p12"/>
          <p:cNvSpPr/>
          <p:nvPr/>
        </p:nvSpPr>
        <p:spPr>
          <a:xfrm>
            <a:off x="514350" y="600075"/>
            <a:ext cx="7700963" cy="351767"/>
          </a:xfrm>
          <a:prstGeom prst="rect">
            <a:avLst/>
          </a:prstGeom>
          <a:noFill/>
          <a:ln>
            <a:noFill/>
          </a:ln>
        </p:spPr>
        <p:txBody>
          <a:bodyPr anchorCtr="0" anchor="t" bIns="0" lIns="0" spcFirstLastPara="1" rIns="0" wrap="square" tIns="0">
            <a:noAutofit/>
          </a:bodyPr>
          <a:lstStyle/>
          <a:p>
            <a:pPr indent="0" lvl="0" marL="0" marR="0" rtl="0" algn="l">
              <a:lnSpc>
                <a:spcPct val="119971"/>
              </a:lnSpc>
              <a:spcBef>
                <a:spcPts val="0"/>
              </a:spcBef>
              <a:spcAft>
                <a:spcPts val="0"/>
              </a:spcAft>
              <a:buClr>
                <a:srgbClr val="1A1A1A"/>
              </a:buClr>
              <a:buSzPts val="2138"/>
              <a:buFont typeface="Tinos"/>
              <a:buNone/>
            </a:pPr>
            <a:r>
              <a:rPr b="0" i="1" lang="en-US" sz="2138" u="none" cap="none" strike="noStrike">
                <a:solidFill>
                  <a:srgbClr val="1A1A1A"/>
                </a:solidFill>
                <a:latin typeface="Tinos"/>
                <a:ea typeface="Tinos"/>
                <a:cs typeface="Tinos"/>
                <a:sym typeface="Tinos"/>
              </a:rPr>
              <a:t>Before God worked through Paul, He worked in Paul.</a:t>
            </a:r>
            <a:endParaRPr b="0" i="0" sz="2138" u="none" cap="none" strike="noStrike">
              <a:solidFill>
                <a:schemeClr val="dk1"/>
              </a:solidFill>
              <a:latin typeface="Calibri"/>
              <a:ea typeface="Calibri"/>
              <a:cs typeface="Calibri"/>
              <a:sym typeface="Calibri"/>
            </a:endParaRPr>
          </a:p>
        </p:txBody>
      </p:sp>
      <p:sp>
        <p:nvSpPr>
          <p:cNvPr id="181" name="Google Shape;181;p12"/>
          <p:cNvSpPr/>
          <p:nvPr/>
        </p:nvSpPr>
        <p:spPr>
          <a:xfrm>
            <a:off x="514350" y="1011510"/>
            <a:ext cx="7000875" cy="185166"/>
          </a:xfrm>
          <a:prstGeom prst="rect">
            <a:avLst/>
          </a:prstGeom>
          <a:noFill/>
          <a:ln>
            <a:noFill/>
          </a:ln>
        </p:spPr>
        <p:txBody>
          <a:bodyPr anchorCtr="0" anchor="t" bIns="0" lIns="0" spcFirstLastPara="1" rIns="0" wrap="square" tIns="0">
            <a:noAutofit/>
          </a:bodyPr>
          <a:lstStyle/>
          <a:p>
            <a:pPr indent="0" lvl="0" marL="0" marR="0" rtl="0" algn="l">
              <a:lnSpc>
                <a:spcPct val="160142"/>
              </a:lnSpc>
              <a:spcBef>
                <a:spcPts val="0"/>
              </a:spcBef>
              <a:spcAft>
                <a:spcPts val="0"/>
              </a:spcAft>
              <a:buClr>
                <a:srgbClr val="6B7280"/>
              </a:buClr>
              <a:buSzPts val="843"/>
              <a:buFont typeface="Carlito"/>
              <a:buNone/>
            </a:pPr>
            <a:r>
              <a:rPr b="0" i="0" lang="en-US" sz="844" u="none" cap="none" strike="noStrike">
                <a:solidFill>
                  <a:srgbClr val="6B7280"/>
                </a:solidFill>
                <a:latin typeface="Carlito"/>
                <a:ea typeface="Carlito"/>
                <a:cs typeface="Carlito"/>
                <a:sym typeface="Carlito"/>
              </a:rPr>
              <a:t>Paul’s calling was not formed in a single moment. God used time, community, and the guidance of the Holy Spirit to shape him.</a:t>
            </a:r>
            <a:endParaRPr b="0" i="0" sz="844" u="none" cap="none" strike="noStrike">
              <a:solidFill>
                <a:schemeClr val="dk1"/>
              </a:solidFill>
              <a:latin typeface="Calibri"/>
              <a:ea typeface="Calibri"/>
              <a:cs typeface="Calibri"/>
              <a:sym typeface="Calibri"/>
            </a:endParaRPr>
          </a:p>
        </p:txBody>
      </p:sp>
      <p:sp>
        <p:nvSpPr>
          <p:cNvPr id="182" name="Google Shape;182;p12"/>
          <p:cNvSpPr/>
          <p:nvPr/>
        </p:nvSpPr>
        <p:spPr>
          <a:xfrm>
            <a:off x="714375" y="1547292"/>
            <a:ext cx="7715250" cy="7144"/>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3" name="Google Shape;183;p12"/>
          <p:cNvSpPr/>
          <p:nvPr/>
        </p:nvSpPr>
        <p:spPr>
          <a:xfrm>
            <a:off x="1428750" y="4171950"/>
            <a:ext cx="21431" cy="571500"/>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4" name="Google Shape;184;p12"/>
          <p:cNvSpPr/>
          <p:nvPr/>
        </p:nvSpPr>
        <p:spPr>
          <a:xfrm>
            <a:off x="1593056" y="4143375"/>
            <a:ext cx="6122194" cy="25918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350"/>
              <a:buFont typeface="Tinos"/>
              <a:buNone/>
            </a:pPr>
            <a:r>
              <a:rPr b="0" i="1" lang="en-US" sz="1350" u="none" cap="none" strike="noStrike">
                <a:solidFill>
                  <a:srgbClr val="1A1A1A"/>
                </a:solidFill>
                <a:latin typeface="Tinos"/>
                <a:ea typeface="Tinos"/>
                <a:cs typeface="Tinos"/>
                <a:sym typeface="Tinos"/>
              </a:rPr>
              <a:t>“Set apart for Me Barnabas and Saul for the work to which I have called them.”</a:t>
            </a:r>
            <a:endParaRPr b="0" i="0" sz="1350" u="none" cap="none" strike="noStrike">
              <a:solidFill>
                <a:schemeClr val="dk1"/>
              </a:solidFill>
              <a:latin typeface="Calibri"/>
              <a:ea typeface="Calibri"/>
              <a:cs typeface="Calibri"/>
              <a:sym typeface="Calibri"/>
            </a:endParaRPr>
          </a:p>
        </p:txBody>
      </p:sp>
      <p:sp>
        <p:nvSpPr>
          <p:cNvPr id="185" name="Google Shape;185;p12"/>
          <p:cNvSpPr/>
          <p:nvPr/>
        </p:nvSpPr>
        <p:spPr>
          <a:xfrm>
            <a:off x="1593056" y="4469085"/>
            <a:ext cx="7550944"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6B7280"/>
              </a:buClr>
              <a:buSzPts val="800"/>
              <a:buFont typeface="Arial"/>
              <a:buNone/>
            </a:pPr>
            <a:r>
              <a:rPr b="0" i="0" lang="en-US" sz="800" u="none" cap="none" strike="noStrike">
                <a:solidFill>
                  <a:srgbClr val="6B7280"/>
                </a:solidFill>
                <a:latin typeface="Arial"/>
                <a:ea typeface="Arial"/>
                <a:cs typeface="Arial"/>
                <a:sym typeface="Arial"/>
              </a:rPr>
              <a:t>ACTS 13:2 · THE HOLY SPIRIT</a:t>
            </a:r>
            <a:endParaRPr b="0" i="0" sz="800" u="none" cap="none" strike="noStrike">
              <a:solidFill>
                <a:schemeClr val="dk1"/>
              </a:solidFill>
              <a:latin typeface="Calibri"/>
              <a:ea typeface="Calibri"/>
              <a:cs typeface="Calibri"/>
              <a:sym typeface="Calibri"/>
            </a:endParaRPr>
          </a:p>
        </p:txBody>
      </p:sp>
      <p:sp>
        <p:nvSpPr>
          <p:cNvPr id="186" name="Google Shape;186;p12"/>
          <p:cNvSpPr/>
          <p:nvPr/>
        </p:nvSpPr>
        <p:spPr>
          <a:xfrm>
            <a:off x="1550194" y="1511573"/>
            <a:ext cx="85725" cy="85725"/>
          </a:xfrm>
          <a:prstGeom prst="roundRect">
            <a:avLst>
              <a:gd fmla="val 11100000" name="adj"/>
            </a:avLst>
          </a:prstGeom>
          <a:solidFill>
            <a:srgbClr val="2B5BA8"/>
          </a:solidFill>
          <a:ln>
            <a:noFill/>
          </a:ln>
          <a:effectLst>
            <a:outerShdw blurRad="101600" rotWithShape="0" algn="bl" dir="16200000" dist="50800">
              <a:srgbClr val="FFFFFF">
                <a:alpha val="50196"/>
              </a:srgbClr>
            </a:outerShdw>
          </a:effectLst>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7" name="Google Shape;187;p12"/>
          <p:cNvSpPr/>
          <p:nvPr/>
        </p:nvSpPr>
        <p:spPr>
          <a:xfrm>
            <a:off x="1330484" y="1725885"/>
            <a:ext cx="525033" cy="158306"/>
          </a:xfrm>
          <a:prstGeom prst="rect">
            <a:avLst/>
          </a:prstGeom>
          <a:noFill/>
          <a:ln>
            <a:noFill/>
          </a:ln>
        </p:spPr>
        <p:txBody>
          <a:bodyPr anchorCtr="0" anchor="t" bIns="0" lIns="0" spcFirstLastPara="1" rIns="0" wrap="square" tIns="0">
            <a:normAutofit/>
          </a:bodyPr>
          <a:lstStyle/>
          <a:p>
            <a:pPr indent="0" lvl="0" marL="0" marR="0" rtl="0" algn="ctr">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ACTS 9</a:t>
            </a:r>
            <a:endParaRPr b="0" i="0" sz="800" u="none" cap="none" strike="noStrike">
              <a:solidFill>
                <a:schemeClr val="dk1"/>
              </a:solidFill>
              <a:latin typeface="Calibri"/>
              <a:ea typeface="Calibri"/>
              <a:cs typeface="Calibri"/>
              <a:sym typeface="Calibri"/>
            </a:endParaRPr>
          </a:p>
        </p:txBody>
      </p:sp>
      <p:sp>
        <p:nvSpPr>
          <p:cNvPr id="188" name="Google Shape;188;p12"/>
          <p:cNvSpPr/>
          <p:nvPr/>
        </p:nvSpPr>
        <p:spPr>
          <a:xfrm>
            <a:off x="807244" y="1911623"/>
            <a:ext cx="1571625" cy="329184"/>
          </a:xfrm>
          <a:prstGeom prst="rect">
            <a:avLst/>
          </a:prstGeom>
          <a:noFill/>
          <a:ln>
            <a:noFill/>
          </a:ln>
        </p:spPr>
        <p:txBody>
          <a:bodyPr anchorCtr="0" anchor="t" bIns="0" lIns="0" spcFirstLastPara="1" rIns="0" wrap="square" tIns="0">
            <a:noAutofit/>
          </a:bodyPr>
          <a:lstStyle/>
          <a:p>
            <a:pPr indent="0" lvl="0" marL="0" marR="0" rtl="0" algn="ctr">
              <a:lnSpc>
                <a:spcPct val="1371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Called on the Damascus road. Begins to testify about Jesus.</a:t>
            </a:r>
            <a:endParaRPr b="0" i="0" sz="800" u="none" cap="none" strike="noStrike">
              <a:solidFill>
                <a:schemeClr val="dk1"/>
              </a:solidFill>
              <a:latin typeface="Calibri"/>
              <a:ea typeface="Calibri"/>
              <a:cs typeface="Calibri"/>
              <a:sym typeface="Calibri"/>
            </a:endParaRPr>
          </a:p>
        </p:txBody>
      </p:sp>
      <p:sp>
        <p:nvSpPr>
          <p:cNvPr id="189" name="Google Shape;189;p12"/>
          <p:cNvSpPr/>
          <p:nvPr/>
        </p:nvSpPr>
        <p:spPr>
          <a:xfrm>
            <a:off x="3536156" y="1511573"/>
            <a:ext cx="85725" cy="85725"/>
          </a:xfrm>
          <a:prstGeom prst="roundRect">
            <a:avLst>
              <a:gd fmla="val 11100000" name="adj"/>
            </a:avLst>
          </a:prstGeom>
          <a:solidFill>
            <a:srgbClr val="2B5BA8"/>
          </a:solidFill>
          <a:ln>
            <a:noFill/>
          </a:ln>
          <a:effectLst>
            <a:outerShdw blurRad="101600" rotWithShape="0" algn="bl" dir="16200000" dist="50800">
              <a:srgbClr val="FFFFFF">
                <a:alpha val="50196"/>
              </a:srgbClr>
            </a:outerShdw>
          </a:effectLst>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0" name="Google Shape;190;p12"/>
          <p:cNvSpPr/>
          <p:nvPr/>
        </p:nvSpPr>
        <p:spPr>
          <a:xfrm>
            <a:off x="3160527" y="1725885"/>
            <a:ext cx="836983" cy="158306"/>
          </a:xfrm>
          <a:prstGeom prst="rect">
            <a:avLst/>
          </a:prstGeom>
          <a:noFill/>
          <a:ln>
            <a:noFill/>
          </a:ln>
        </p:spPr>
        <p:txBody>
          <a:bodyPr anchorCtr="0" anchor="t" bIns="0" lIns="0" spcFirstLastPara="1" rIns="0" wrap="square" tIns="0">
            <a:normAutofit/>
          </a:bodyPr>
          <a:lstStyle/>
          <a:p>
            <a:pPr indent="0" lvl="0" marL="0" marR="0" rtl="0" algn="ctr">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YEARS PASS</a:t>
            </a:r>
            <a:endParaRPr b="0" i="0" sz="800" u="none" cap="none" strike="noStrike">
              <a:solidFill>
                <a:schemeClr val="dk1"/>
              </a:solidFill>
              <a:latin typeface="Calibri"/>
              <a:ea typeface="Calibri"/>
              <a:cs typeface="Calibri"/>
              <a:sym typeface="Calibri"/>
            </a:endParaRPr>
          </a:p>
        </p:txBody>
      </p:sp>
      <p:sp>
        <p:nvSpPr>
          <p:cNvPr id="191" name="Google Shape;191;p12"/>
          <p:cNvSpPr/>
          <p:nvPr/>
        </p:nvSpPr>
        <p:spPr>
          <a:xfrm>
            <a:off x="2793206" y="1911623"/>
            <a:ext cx="1571625" cy="493776"/>
          </a:xfrm>
          <a:prstGeom prst="rect">
            <a:avLst/>
          </a:prstGeom>
          <a:noFill/>
          <a:ln>
            <a:noFill/>
          </a:ln>
        </p:spPr>
        <p:txBody>
          <a:bodyPr anchorCtr="0" anchor="t" bIns="0" lIns="0" spcFirstLastPara="1" rIns="0" wrap="square" tIns="0">
            <a:noAutofit/>
          </a:bodyPr>
          <a:lstStyle/>
          <a:p>
            <a:pPr indent="0" lvl="0" marL="0" marR="0" rtl="0" algn="ctr">
              <a:lnSpc>
                <a:spcPct val="1371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Galatians 1–2 shows many years between the encounter and later ministry.</a:t>
            </a:r>
            <a:endParaRPr b="0" i="0" sz="800" u="none" cap="none" strike="noStrike">
              <a:solidFill>
                <a:schemeClr val="dk1"/>
              </a:solidFill>
              <a:latin typeface="Calibri"/>
              <a:ea typeface="Calibri"/>
              <a:cs typeface="Calibri"/>
              <a:sym typeface="Calibri"/>
            </a:endParaRPr>
          </a:p>
        </p:txBody>
      </p:sp>
      <p:sp>
        <p:nvSpPr>
          <p:cNvPr id="192" name="Google Shape;192;p12"/>
          <p:cNvSpPr/>
          <p:nvPr/>
        </p:nvSpPr>
        <p:spPr>
          <a:xfrm>
            <a:off x="5522119" y="1511573"/>
            <a:ext cx="85725" cy="85725"/>
          </a:xfrm>
          <a:prstGeom prst="roundRect">
            <a:avLst>
              <a:gd fmla="val 11100000" name="adj"/>
            </a:avLst>
          </a:prstGeom>
          <a:solidFill>
            <a:srgbClr val="2B5BA8"/>
          </a:solidFill>
          <a:ln>
            <a:noFill/>
          </a:ln>
          <a:effectLst>
            <a:outerShdw blurRad="101600" rotWithShape="0" algn="bl" dir="16200000" dist="50800">
              <a:srgbClr val="FFFFFF">
                <a:alpha val="50196"/>
              </a:srgbClr>
            </a:outerShdw>
          </a:effectLst>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3" name="Google Shape;193;p12"/>
          <p:cNvSpPr/>
          <p:nvPr/>
        </p:nvSpPr>
        <p:spPr>
          <a:xfrm>
            <a:off x="5254596" y="1725885"/>
            <a:ext cx="620770" cy="158306"/>
          </a:xfrm>
          <a:prstGeom prst="rect">
            <a:avLst/>
          </a:prstGeom>
          <a:noFill/>
          <a:ln>
            <a:noFill/>
          </a:ln>
        </p:spPr>
        <p:txBody>
          <a:bodyPr anchorCtr="0" anchor="t" bIns="0" lIns="0" spcFirstLastPara="1" rIns="0" wrap="square" tIns="0">
            <a:normAutofit/>
          </a:bodyPr>
          <a:lstStyle/>
          <a:p>
            <a:pPr indent="0" lvl="0" marL="0" marR="0" rtl="0" algn="ctr">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ACTS 11</a:t>
            </a:r>
            <a:endParaRPr b="0" i="0" sz="800" u="none" cap="none" strike="noStrike">
              <a:solidFill>
                <a:schemeClr val="dk1"/>
              </a:solidFill>
              <a:latin typeface="Calibri"/>
              <a:ea typeface="Calibri"/>
              <a:cs typeface="Calibri"/>
              <a:sym typeface="Calibri"/>
            </a:endParaRPr>
          </a:p>
        </p:txBody>
      </p:sp>
      <p:sp>
        <p:nvSpPr>
          <p:cNvPr id="194" name="Google Shape;194;p12"/>
          <p:cNvSpPr/>
          <p:nvPr/>
        </p:nvSpPr>
        <p:spPr>
          <a:xfrm>
            <a:off x="4779169" y="1911623"/>
            <a:ext cx="1571625" cy="329184"/>
          </a:xfrm>
          <a:prstGeom prst="rect">
            <a:avLst/>
          </a:prstGeom>
          <a:noFill/>
          <a:ln>
            <a:noFill/>
          </a:ln>
        </p:spPr>
        <p:txBody>
          <a:bodyPr anchorCtr="0" anchor="t" bIns="0" lIns="0" spcFirstLastPara="1" rIns="0" wrap="square" tIns="0">
            <a:noAutofit/>
          </a:bodyPr>
          <a:lstStyle/>
          <a:p>
            <a:pPr indent="0" lvl="0" marL="0" marR="0" rtl="0" algn="ctr">
              <a:lnSpc>
                <a:spcPct val="1371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Barnabas goes to Tarsus to look for Saul and brings him to Antioch.</a:t>
            </a:r>
            <a:endParaRPr b="0" i="0" sz="800" u="none" cap="none" strike="noStrike">
              <a:solidFill>
                <a:schemeClr val="dk1"/>
              </a:solidFill>
              <a:latin typeface="Calibri"/>
              <a:ea typeface="Calibri"/>
              <a:cs typeface="Calibri"/>
              <a:sym typeface="Calibri"/>
            </a:endParaRPr>
          </a:p>
        </p:txBody>
      </p:sp>
      <p:sp>
        <p:nvSpPr>
          <p:cNvPr id="195" name="Google Shape;195;p12"/>
          <p:cNvSpPr/>
          <p:nvPr/>
        </p:nvSpPr>
        <p:spPr>
          <a:xfrm>
            <a:off x="7508081" y="1511573"/>
            <a:ext cx="85725" cy="85725"/>
          </a:xfrm>
          <a:prstGeom prst="roundRect">
            <a:avLst>
              <a:gd fmla="val 11100000" name="adj"/>
            </a:avLst>
          </a:prstGeom>
          <a:solidFill>
            <a:srgbClr val="2B5BA8"/>
          </a:solidFill>
          <a:ln>
            <a:noFill/>
          </a:ln>
          <a:effectLst>
            <a:outerShdw blurRad="101600" rotWithShape="0" algn="bl" dir="16200000" dist="50800">
              <a:srgbClr val="FFFFFF">
                <a:alpha val="50196"/>
              </a:srgbClr>
            </a:outerShdw>
          </a:effectLst>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6" name="Google Shape;196;p12"/>
          <p:cNvSpPr/>
          <p:nvPr/>
        </p:nvSpPr>
        <p:spPr>
          <a:xfrm>
            <a:off x="7240559" y="1725885"/>
            <a:ext cx="620770" cy="158306"/>
          </a:xfrm>
          <a:prstGeom prst="rect">
            <a:avLst/>
          </a:prstGeom>
          <a:noFill/>
          <a:ln>
            <a:noFill/>
          </a:ln>
        </p:spPr>
        <p:txBody>
          <a:bodyPr anchorCtr="0" anchor="t" bIns="0" lIns="0" spcFirstLastPara="1" rIns="0" wrap="square" tIns="0">
            <a:normAutofit/>
          </a:bodyPr>
          <a:lstStyle/>
          <a:p>
            <a:pPr indent="0" lvl="0" marL="0" marR="0" rtl="0" algn="ctr">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ACTS 13</a:t>
            </a:r>
            <a:endParaRPr b="0" i="0" sz="800" u="none" cap="none" strike="noStrike">
              <a:solidFill>
                <a:schemeClr val="dk1"/>
              </a:solidFill>
              <a:latin typeface="Calibri"/>
              <a:ea typeface="Calibri"/>
              <a:cs typeface="Calibri"/>
              <a:sym typeface="Calibri"/>
            </a:endParaRPr>
          </a:p>
        </p:txBody>
      </p:sp>
      <p:sp>
        <p:nvSpPr>
          <p:cNvPr id="197" name="Google Shape;197;p12"/>
          <p:cNvSpPr/>
          <p:nvPr/>
        </p:nvSpPr>
        <p:spPr>
          <a:xfrm>
            <a:off x="6765131" y="1911623"/>
            <a:ext cx="1571625" cy="329184"/>
          </a:xfrm>
          <a:prstGeom prst="rect">
            <a:avLst/>
          </a:prstGeom>
          <a:noFill/>
          <a:ln>
            <a:noFill/>
          </a:ln>
        </p:spPr>
        <p:txBody>
          <a:bodyPr anchorCtr="0" anchor="t" bIns="0" lIns="0" spcFirstLastPara="1" rIns="0" wrap="square" tIns="0">
            <a:noAutofit/>
          </a:bodyPr>
          <a:lstStyle/>
          <a:p>
            <a:pPr indent="0" lvl="0" marL="0" marR="0" rtl="0" algn="ctr">
              <a:lnSpc>
                <a:spcPct val="1371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As the church worships, fasts, and prays, the Holy Spirit sets Saul apart.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13"/>
          <p:cNvSpPr/>
          <p:nvPr/>
        </p:nvSpPr>
        <p:spPr>
          <a:xfrm>
            <a:off x="628650" y="1750888"/>
            <a:ext cx="85153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04 / 04</a:t>
            </a:r>
            <a:endParaRPr b="0" i="0" sz="800" u="none" cap="none" strike="noStrike">
              <a:solidFill>
                <a:schemeClr val="dk1"/>
              </a:solidFill>
              <a:latin typeface="Calibri"/>
              <a:ea typeface="Calibri"/>
              <a:cs typeface="Calibri"/>
              <a:sym typeface="Calibri"/>
            </a:endParaRPr>
          </a:p>
        </p:txBody>
      </p:sp>
      <p:sp>
        <p:nvSpPr>
          <p:cNvPr id="204" name="Google Shape;204;p13"/>
          <p:cNvSpPr/>
          <p:nvPr/>
        </p:nvSpPr>
        <p:spPr>
          <a:xfrm>
            <a:off x="628650" y="2022351"/>
            <a:ext cx="342900" cy="21431"/>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5" name="Google Shape;205;p13"/>
          <p:cNvSpPr/>
          <p:nvPr/>
        </p:nvSpPr>
        <p:spPr>
          <a:xfrm>
            <a:off x="628650" y="2243807"/>
            <a:ext cx="8515350" cy="661944"/>
          </a:xfrm>
          <a:prstGeom prst="rect">
            <a:avLst/>
          </a:prstGeom>
          <a:noFill/>
          <a:ln>
            <a:noFill/>
          </a:ln>
        </p:spPr>
        <p:txBody>
          <a:bodyPr anchorCtr="0" anchor="t" bIns="0" lIns="0" spcFirstLastPara="1" rIns="0" wrap="square" tIns="0">
            <a:noAutofit/>
          </a:bodyPr>
          <a:lstStyle/>
          <a:p>
            <a:pPr indent="0" lvl="0" marL="0" marR="0" rtl="0" algn="l">
              <a:lnSpc>
                <a:spcPct val="109981"/>
              </a:lnSpc>
              <a:spcBef>
                <a:spcPts val="0"/>
              </a:spcBef>
              <a:spcAft>
                <a:spcPts val="0"/>
              </a:spcAft>
              <a:buClr>
                <a:srgbClr val="1A1A1A"/>
              </a:buClr>
              <a:buSzPts val="4388"/>
              <a:buFont typeface="Tinos"/>
              <a:buNone/>
            </a:pPr>
            <a:r>
              <a:rPr b="0" i="1" lang="en-US" sz="4388" u="none" cap="none" strike="noStrike">
                <a:solidFill>
                  <a:srgbClr val="1A1A1A"/>
                </a:solidFill>
                <a:latin typeface="Tinos"/>
                <a:ea typeface="Tinos"/>
                <a:cs typeface="Tinos"/>
                <a:sym typeface="Tinos"/>
              </a:rPr>
              <a:t>Not only Paul</a:t>
            </a:r>
            <a:endParaRPr b="0" i="0" sz="4388" u="none" cap="none" strike="noStrike">
              <a:solidFill>
                <a:schemeClr val="dk1"/>
              </a:solidFill>
              <a:latin typeface="Calibri"/>
              <a:ea typeface="Calibri"/>
              <a:cs typeface="Calibri"/>
              <a:sym typeface="Calibri"/>
            </a:endParaRPr>
          </a:p>
        </p:txBody>
      </p:sp>
      <p:sp>
        <p:nvSpPr>
          <p:cNvPr id="206" name="Google Shape;206;p13"/>
          <p:cNvSpPr/>
          <p:nvPr/>
        </p:nvSpPr>
        <p:spPr>
          <a:xfrm>
            <a:off x="628650" y="3028169"/>
            <a:ext cx="6943725" cy="254603"/>
          </a:xfrm>
          <a:prstGeom prst="rect">
            <a:avLst/>
          </a:prstGeom>
          <a:noFill/>
          <a:ln>
            <a:noFill/>
          </a:ln>
        </p:spPr>
        <p:txBody>
          <a:bodyPr anchorCtr="0" anchor="t" bIns="0" lIns="0" spcFirstLastPara="1" rIns="0" wrap="square" tIns="0">
            <a:noAutofit/>
          </a:bodyPr>
          <a:lstStyle/>
          <a:p>
            <a:pPr indent="0" lvl="0" marL="0" marR="0" rtl="0" algn="l">
              <a:lnSpc>
                <a:spcPct val="149919"/>
              </a:lnSpc>
              <a:spcBef>
                <a:spcPts val="0"/>
              </a:spcBef>
              <a:spcAft>
                <a:spcPts val="0"/>
              </a:spcAft>
              <a:buClr>
                <a:srgbClr val="6B7280"/>
              </a:buClr>
              <a:buSzPts val="1238"/>
              <a:buFont typeface="Carlito"/>
              <a:buNone/>
            </a:pPr>
            <a:r>
              <a:rPr b="0" i="0" lang="en-US" sz="1238" u="none" cap="none" strike="noStrike">
                <a:solidFill>
                  <a:srgbClr val="6B7280"/>
                </a:solidFill>
                <a:latin typeface="Carlito"/>
                <a:ea typeface="Carlito"/>
                <a:cs typeface="Carlito"/>
                <a:sym typeface="Carlito"/>
              </a:rPr>
              <a:t>The same pattern echoes throughout Scripture.</a:t>
            </a:r>
            <a:endParaRPr b="0" i="0" sz="1238" u="none" cap="none" strike="noStrike">
              <a:solidFill>
                <a:schemeClr val="dk1"/>
              </a:solidFill>
              <a:latin typeface="Calibri"/>
              <a:ea typeface="Calibri"/>
              <a:cs typeface="Calibri"/>
              <a:sym typeface="Calibri"/>
            </a:endParaRPr>
          </a:p>
        </p:txBody>
      </p:sp>
      <p:sp>
        <p:nvSpPr>
          <p:cNvPr id="207" name="Google Shape;207;p13"/>
          <p:cNvSpPr/>
          <p:nvPr/>
        </p:nvSpPr>
        <p:spPr>
          <a:xfrm>
            <a:off x="8040849" y="4557713"/>
            <a:ext cx="679427"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B7280"/>
              </a:buClr>
              <a:buSzPts val="800"/>
              <a:buFont typeface="Carlito"/>
              <a:buNone/>
            </a:pPr>
            <a:r>
              <a:rPr b="0" i="0" lang="en-US" sz="800" u="none" cap="none" strike="noStrike">
                <a:solidFill>
                  <a:srgbClr val="6B7280"/>
                </a:solidFill>
                <a:latin typeface="Carlito"/>
                <a:ea typeface="Carlito"/>
                <a:cs typeface="Carlito"/>
                <a:sym typeface="Carlito"/>
              </a:rPr>
              <a:t>Part Four</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4"/>
          <p:cNvSpPr/>
          <p:nvPr/>
        </p:nvSpPr>
        <p:spPr>
          <a:xfrm>
            <a:off x="514350" y="400050"/>
            <a:ext cx="86296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THE PATTERN ELSEWHERE IN SCRIPTURE</a:t>
            </a:r>
            <a:endParaRPr b="0" i="0" sz="800" u="none" cap="none" strike="noStrike">
              <a:solidFill>
                <a:schemeClr val="dk1"/>
              </a:solidFill>
              <a:latin typeface="Calibri"/>
              <a:ea typeface="Calibri"/>
              <a:cs typeface="Calibri"/>
              <a:sym typeface="Calibri"/>
            </a:endParaRPr>
          </a:p>
        </p:txBody>
      </p:sp>
      <p:sp>
        <p:nvSpPr>
          <p:cNvPr id="214" name="Google Shape;214;p14"/>
          <p:cNvSpPr/>
          <p:nvPr/>
        </p:nvSpPr>
        <p:spPr>
          <a:xfrm>
            <a:off x="514350" y="600075"/>
            <a:ext cx="8629650" cy="351767"/>
          </a:xfrm>
          <a:prstGeom prst="rect">
            <a:avLst/>
          </a:prstGeom>
          <a:noFill/>
          <a:ln>
            <a:noFill/>
          </a:ln>
        </p:spPr>
        <p:txBody>
          <a:bodyPr anchorCtr="0" anchor="t" bIns="0" lIns="0" spcFirstLastPara="1" rIns="0" wrap="square" tIns="0">
            <a:noAutofit/>
          </a:bodyPr>
          <a:lstStyle/>
          <a:p>
            <a:pPr indent="0" lvl="0" marL="0" marR="0" rtl="0" algn="l">
              <a:lnSpc>
                <a:spcPct val="119971"/>
              </a:lnSpc>
              <a:spcBef>
                <a:spcPts val="0"/>
              </a:spcBef>
              <a:spcAft>
                <a:spcPts val="0"/>
              </a:spcAft>
              <a:buClr>
                <a:srgbClr val="1A1A1A"/>
              </a:buClr>
              <a:buSzPts val="2138"/>
              <a:buFont typeface="Tinos"/>
              <a:buNone/>
            </a:pPr>
            <a:r>
              <a:rPr b="0" i="1" lang="en-US" sz="2138" u="none" cap="none" strike="noStrike">
                <a:solidFill>
                  <a:srgbClr val="1A1A1A"/>
                </a:solidFill>
                <a:latin typeface="Tinos"/>
                <a:ea typeface="Tinos"/>
                <a:cs typeface="Tinos"/>
                <a:sym typeface="Tinos"/>
              </a:rPr>
              <a:t>Four witnesses. One shared truth.</a:t>
            </a:r>
            <a:endParaRPr b="0" i="0" sz="2138" u="none" cap="none" strike="noStrike">
              <a:solidFill>
                <a:schemeClr val="dk1"/>
              </a:solidFill>
              <a:latin typeface="Calibri"/>
              <a:ea typeface="Calibri"/>
              <a:cs typeface="Calibri"/>
              <a:sym typeface="Calibri"/>
            </a:endParaRPr>
          </a:p>
        </p:txBody>
      </p:sp>
      <p:sp>
        <p:nvSpPr>
          <p:cNvPr id="215" name="Google Shape;215;p14"/>
          <p:cNvSpPr/>
          <p:nvPr/>
        </p:nvSpPr>
        <p:spPr>
          <a:xfrm>
            <a:off x="517922" y="1115095"/>
            <a:ext cx="3979069" cy="1135633"/>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6" name="Google Shape;216;p14"/>
          <p:cNvSpPr/>
          <p:nvPr/>
        </p:nvSpPr>
        <p:spPr>
          <a:xfrm>
            <a:off x="721519" y="1290117"/>
            <a:ext cx="3571875" cy="144018"/>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a:t>
            </a:r>
            <a:endParaRPr b="0" i="0" sz="800" u="none" cap="none" strike="noStrike">
              <a:solidFill>
                <a:schemeClr val="dk1"/>
              </a:solidFill>
              <a:latin typeface="Calibri"/>
              <a:ea typeface="Calibri"/>
              <a:cs typeface="Calibri"/>
              <a:sym typeface="Calibri"/>
            </a:endParaRPr>
          </a:p>
        </p:txBody>
      </p:sp>
      <p:sp>
        <p:nvSpPr>
          <p:cNvPr id="217" name="Google Shape;217;p14"/>
          <p:cNvSpPr/>
          <p:nvPr/>
        </p:nvSpPr>
        <p:spPr>
          <a:xfrm>
            <a:off x="721519" y="1461567"/>
            <a:ext cx="3571875" cy="240619"/>
          </a:xfrm>
          <a:prstGeom prst="rect">
            <a:avLst/>
          </a:prstGeom>
          <a:noFill/>
          <a:ln>
            <a:noFill/>
          </a:ln>
        </p:spPr>
        <p:txBody>
          <a:bodyPr anchorCtr="0" anchor="t" bIns="0" lIns="0" spcFirstLastPara="1" rIns="0" wrap="square" tIns="0">
            <a:noAutofit/>
          </a:bodyPr>
          <a:lstStyle/>
          <a:p>
            <a:pPr indent="0" lvl="0" marL="0" marR="0" rtl="0" algn="l">
              <a:lnSpc>
                <a:spcPct val="119958"/>
              </a:lnSpc>
              <a:spcBef>
                <a:spcPts val="0"/>
              </a:spcBef>
              <a:spcAft>
                <a:spcPts val="0"/>
              </a:spcAft>
              <a:buClr>
                <a:srgbClr val="1A1A1A"/>
              </a:buClr>
              <a:buSzPts val="1463"/>
              <a:buFont typeface="Tinos"/>
              <a:buNone/>
            </a:pPr>
            <a:r>
              <a:rPr b="0" i="1" lang="en-US" sz="1463" u="none" cap="none" strike="noStrike">
                <a:solidFill>
                  <a:srgbClr val="1A1A1A"/>
                </a:solidFill>
                <a:latin typeface="Tinos"/>
                <a:ea typeface="Tinos"/>
                <a:cs typeface="Tinos"/>
                <a:sym typeface="Tinos"/>
              </a:rPr>
              <a:t>Moses</a:t>
            </a:r>
            <a:endParaRPr b="0" i="0" sz="1463" u="none" cap="none" strike="noStrike">
              <a:solidFill>
                <a:schemeClr val="dk1"/>
              </a:solidFill>
              <a:latin typeface="Calibri"/>
              <a:ea typeface="Calibri"/>
              <a:cs typeface="Calibri"/>
              <a:sym typeface="Calibri"/>
            </a:endParaRPr>
          </a:p>
        </p:txBody>
      </p:sp>
      <p:sp>
        <p:nvSpPr>
          <p:cNvPr id="218" name="Google Shape;218;p14"/>
          <p:cNvSpPr/>
          <p:nvPr/>
        </p:nvSpPr>
        <p:spPr>
          <a:xfrm>
            <a:off x="721519" y="1755800"/>
            <a:ext cx="2714625" cy="319906"/>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Longed to deliver his people; God used wilderness years to teach him dependence on God’s presence.</a:t>
            </a:r>
            <a:endParaRPr b="0" i="0" sz="800" u="none" cap="none" strike="noStrike">
              <a:solidFill>
                <a:schemeClr val="dk1"/>
              </a:solidFill>
              <a:latin typeface="Calibri"/>
              <a:ea typeface="Calibri"/>
              <a:cs typeface="Calibri"/>
              <a:sym typeface="Calibri"/>
            </a:endParaRPr>
          </a:p>
        </p:txBody>
      </p:sp>
      <p:sp>
        <p:nvSpPr>
          <p:cNvPr id="219" name="Google Shape;219;p14"/>
          <p:cNvSpPr/>
          <p:nvPr/>
        </p:nvSpPr>
        <p:spPr>
          <a:xfrm>
            <a:off x="4647009" y="1115095"/>
            <a:ext cx="3979069" cy="1135633"/>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0" name="Google Shape;220;p14"/>
          <p:cNvSpPr/>
          <p:nvPr/>
        </p:nvSpPr>
        <p:spPr>
          <a:xfrm>
            <a:off x="4850606" y="1290117"/>
            <a:ext cx="3571875" cy="144018"/>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a:t>
            </a:r>
            <a:endParaRPr b="0" i="0" sz="800" u="none" cap="none" strike="noStrike">
              <a:solidFill>
                <a:schemeClr val="dk1"/>
              </a:solidFill>
              <a:latin typeface="Calibri"/>
              <a:ea typeface="Calibri"/>
              <a:cs typeface="Calibri"/>
              <a:sym typeface="Calibri"/>
            </a:endParaRPr>
          </a:p>
        </p:txBody>
      </p:sp>
      <p:sp>
        <p:nvSpPr>
          <p:cNvPr id="221" name="Google Shape;221;p14"/>
          <p:cNvSpPr/>
          <p:nvPr/>
        </p:nvSpPr>
        <p:spPr>
          <a:xfrm>
            <a:off x="4850606" y="1461567"/>
            <a:ext cx="3571875" cy="240619"/>
          </a:xfrm>
          <a:prstGeom prst="rect">
            <a:avLst/>
          </a:prstGeom>
          <a:noFill/>
          <a:ln>
            <a:noFill/>
          </a:ln>
        </p:spPr>
        <p:txBody>
          <a:bodyPr anchorCtr="0" anchor="t" bIns="0" lIns="0" spcFirstLastPara="1" rIns="0" wrap="square" tIns="0">
            <a:noAutofit/>
          </a:bodyPr>
          <a:lstStyle/>
          <a:p>
            <a:pPr indent="0" lvl="0" marL="0" marR="0" rtl="0" algn="l">
              <a:lnSpc>
                <a:spcPct val="119958"/>
              </a:lnSpc>
              <a:spcBef>
                <a:spcPts val="0"/>
              </a:spcBef>
              <a:spcAft>
                <a:spcPts val="0"/>
              </a:spcAft>
              <a:buClr>
                <a:srgbClr val="1A1A1A"/>
              </a:buClr>
              <a:buSzPts val="1463"/>
              <a:buFont typeface="Tinos"/>
              <a:buNone/>
            </a:pPr>
            <a:r>
              <a:rPr b="0" i="1" lang="en-US" sz="1463" u="none" cap="none" strike="noStrike">
                <a:solidFill>
                  <a:srgbClr val="1A1A1A"/>
                </a:solidFill>
                <a:latin typeface="Tinos"/>
                <a:ea typeface="Tinos"/>
                <a:cs typeface="Tinos"/>
                <a:sym typeface="Tinos"/>
              </a:rPr>
              <a:t>Peter</a:t>
            </a:r>
            <a:endParaRPr b="0" i="0" sz="1463" u="none" cap="none" strike="noStrike">
              <a:solidFill>
                <a:schemeClr val="dk1"/>
              </a:solidFill>
              <a:latin typeface="Calibri"/>
              <a:ea typeface="Calibri"/>
              <a:cs typeface="Calibri"/>
              <a:sym typeface="Calibri"/>
            </a:endParaRPr>
          </a:p>
        </p:txBody>
      </p:sp>
      <p:sp>
        <p:nvSpPr>
          <p:cNvPr id="222" name="Google Shape;222;p14"/>
          <p:cNvSpPr/>
          <p:nvPr/>
        </p:nvSpPr>
        <p:spPr>
          <a:xfrm>
            <a:off x="4850606" y="1755800"/>
            <a:ext cx="2714625" cy="319906"/>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Genuinely loved Jesus but trusted his own strength; the risen Christ restored him and entrusted His flock to him.</a:t>
            </a:r>
            <a:endParaRPr b="0" i="0" sz="800" u="none" cap="none" strike="noStrike">
              <a:solidFill>
                <a:schemeClr val="dk1"/>
              </a:solidFill>
              <a:latin typeface="Calibri"/>
              <a:ea typeface="Calibri"/>
              <a:cs typeface="Calibri"/>
              <a:sym typeface="Calibri"/>
            </a:endParaRPr>
          </a:p>
        </p:txBody>
      </p:sp>
      <p:sp>
        <p:nvSpPr>
          <p:cNvPr id="223" name="Google Shape;223;p14"/>
          <p:cNvSpPr/>
          <p:nvPr/>
        </p:nvSpPr>
        <p:spPr>
          <a:xfrm>
            <a:off x="517922" y="2400746"/>
            <a:ext cx="3979069" cy="1135633"/>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4" name="Google Shape;224;p14"/>
          <p:cNvSpPr/>
          <p:nvPr/>
        </p:nvSpPr>
        <p:spPr>
          <a:xfrm>
            <a:off x="721519" y="2575768"/>
            <a:ext cx="3571875" cy="144018"/>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III</a:t>
            </a:r>
            <a:endParaRPr b="0" i="0" sz="800" u="none" cap="none" strike="noStrike">
              <a:solidFill>
                <a:schemeClr val="dk1"/>
              </a:solidFill>
              <a:latin typeface="Calibri"/>
              <a:ea typeface="Calibri"/>
              <a:cs typeface="Calibri"/>
              <a:sym typeface="Calibri"/>
            </a:endParaRPr>
          </a:p>
        </p:txBody>
      </p:sp>
      <p:sp>
        <p:nvSpPr>
          <p:cNvPr id="225" name="Google Shape;225;p14"/>
          <p:cNvSpPr/>
          <p:nvPr/>
        </p:nvSpPr>
        <p:spPr>
          <a:xfrm>
            <a:off x="721519" y="2747218"/>
            <a:ext cx="3571875" cy="240619"/>
          </a:xfrm>
          <a:prstGeom prst="rect">
            <a:avLst/>
          </a:prstGeom>
          <a:noFill/>
          <a:ln>
            <a:noFill/>
          </a:ln>
        </p:spPr>
        <p:txBody>
          <a:bodyPr anchorCtr="0" anchor="t" bIns="0" lIns="0" spcFirstLastPara="1" rIns="0" wrap="square" tIns="0">
            <a:noAutofit/>
          </a:bodyPr>
          <a:lstStyle/>
          <a:p>
            <a:pPr indent="0" lvl="0" marL="0" marR="0" rtl="0" algn="l">
              <a:lnSpc>
                <a:spcPct val="119958"/>
              </a:lnSpc>
              <a:spcBef>
                <a:spcPts val="0"/>
              </a:spcBef>
              <a:spcAft>
                <a:spcPts val="0"/>
              </a:spcAft>
              <a:buClr>
                <a:srgbClr val="1A1A1A"/>
              </a:buClr>
              <a:buSzPts val="1463"/>
              <a:buFont typeface="Tinos"/>
              <a:buNone/>
            </a:pPr>
            <a:r>
              <a:rPr b="0" i="1" lang="en-US" sz="1463" u="none" cap="none" strike="noStrike">
                <a:solidFill>
                  <a:srgbClr val="1A1A1A"/>
                </a:solidFill>
                <a:latin typeface="Tinos"/>
                <a:ea typeface="Tinos"/>
                <a:cs typeface="Tinos"/>
                <a:sym typeface="Tinos"/>
              </a:rPr>
              <a:t>Elijah</a:t>
            </a:r>
            <a:endParaRPr b="0" i="0" sz="1463" u="none" cap="none" strike="noStrike">
              <a:solidFill>
                <a:schemeClr val="dk1"/>
              </a:solidFill>
              <a:latin typeface="Calibri"/>
              <a:ea typeface="Calibri"/>
              <a:cs typeface="Calibri"/>
              <a:sym typeface="Calibri"/>
            </a:endParaRPr>
          </a:p>
        </p:txBody>
      </p:sp>
      <p:sp>
        <p:nvSpPr>
          <p:cNvPr id="226" name="Google Shape;226;p14"/>
          <p:cNvSpPr/>
          <p:nvPr/>
        </p:nvSpPr>
        <p:spPr>
          <a:xfrm>
            <a:off x="721519" y="3041452"/>
            <a:ext cx="2714625" cy="319906"/>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Exhausted even after a great victory; God met him in weakness, cared for him, and gave him his next assignment.</a:t>
            </a:r>
            <a:endParaRPr b="0" i="0" sz="800" u="none" cap="none" strike="noStrike">
              <a:solidFill>
                <a:schemeClr val="dk1"/>
              </a:solidFill>
              <a:latin typeface="Calibri"/>
              <a:ea typeface="Calibri"/>
              <a:cs typeface="Calibri"/>
              <a:sym typeface="Calibri"/>
            </a:endParaRPr>
          </a:p>
        </p:txBody>
      </p:sp>
      <p:sp>
        <p:nvSpPr>
          <p:cNvPr id="227" name="Google Shape;227;p14"/>
          <p:cNvSpPr/>
          <p:nvPr/>
        </p:nvSpPr>
        <p:spPr>
          <a:xfrm>
            <a:off x="4647009" y="2400746"/>
            <a:ext cx="3979069" cy="1135633"/>
          </a:xfrm>
          <a:prstGeom prst="rect">
            <a:avLst/>
          </a:prstGeom>
          <a:solidFill>
            <a:srgbClr val="F8F9FB"/>
          </a:solidFill>
          <a:ln cap="flat" cmpd="sng" w="9525">
            <a:solidFill>
              <a:srgbClr val="E5E7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8" name="Google Shape;228;p14"/>
          <p:cNvSpPr/>
          <p:nvPr/>
        </p:nvSpPr>
        <p:spPr>
          <a:xfrm>
            <a:off x="4850606" y="2575768"/>
            <a:ext cx="3571875" cy="144018"/>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IV</a:t>
            </a:r>
            <a:endParaRPr b="0" i="0" sz="800" u="none" cap="none" strike="noStrike">
              <a:solidFill>
                <a:schemeClr val="dk1"/>
              </a:solidFill>
              <a:latin typeface="Calibri"/>
              <a:ea typeface="Calibri"/>
              <a:cs typeface="Calibri"/>
              <a:sym typeface="Calibri"/>
            </a:endParaRPr>
          </a:p>
        </p:txBody>
      </p:sp>
      <p:sp>
        <p:nvSpPr>
          <p:cNvPr id="229" name="Google Shape;229;p14"/>
          <p:cNvSpPr/>
          <p:nvPr/>
        </p:nvSpPr>
        <p:spPr>
          <a:xfrm>
            <a:off x="4850606" y="2747218"/>
            <a:ext cx="3571875" cy="240619"/>
          </a:xfrm>
          <a:prstGeom prst="rect">
            <a:avLst/>
          </a:prstGeom>
          <a:noFill/>
          <a:ln>
            <a:noFill/>
          </a:ln>
        </p:spPr>
        <p:txBody>
          <a:bodyPr anchorCtr="0" anchor="t" bIns="0" lIns="0" spcFirstLastPara="1" rIns="0" wrap="square" tIns="0">
            <a:noAutofit/>
          </a:bodyPr>
          <a:lstStyle/>
          <a:p>
            <a:pPr indent="0" lvl="0" marL="0" marR="0" rtl="0" algn="l">
              <a:lnSpc>
                <a:spcPct val="119958"/>
              </a:lnSpc>
              <a:spcBef>
                <a:spcPts val="0"/>
              </a:spcBef>
              <a:spcAft>
                <a:spcPts val="0"/>
              </a:spcAft>
              <a:buClr>
                <a:srgbClr val="1A1A1A"/>
              </a:buClr>
              <a:buSzPts val="1463"/>
              <a:buFont typeface="Tinos"/>
              <a:buNone/>
            </a:pPr>
            <a:r>
              <a:rPr b="0" i="1" lang="en-US" sz="1463" u="none" cap="none" strike="noStrike">
                <a:solidFill>
                  <a:srgbClr val="1A1A1A"/>
                </a:solidFill>
                <a:latin typeface="Tinos"/>
                <a:ea typeface="Tinos"/>
                <a:cs typeface="Tinos"/>
                <a:sym typeface="Tinos"/>
              </a:rPr>
              <a:t>Ephesus</a:t>
            </a:r>
            <a:endParaRPr b="0" i="0" sz="1463" u="none" cap="none" strike="noStrike">
              <a:solidFill>
                <a:schemeClr val="dk1"/>
              </a:solidFill>
              <a:latin typeface="Calibri"/>
              <a:ea typeface="Calibri"/>
              <a:cs typeface="Calibri"/>
              <a:sym typeface="Calibri"/>
            </a:endParaRPr>
          </a:p>
        </p:txBody>
      </p:sp>
      <p:sp>
        <p:nvSpPr>
          <p:cNvPr id="230" name="Google Shape;230;p14"/>
          <p:cNvSpPr/>
          <p:nvPr/>
        </p:nvSpPr>
        <p:spPr>
          <a:xfrm>
            <a:off x="4850606" y="3041452"/>
            <a:ext cx="2714625" cy="319906"/>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Had deeds, hard work, perseverance — but Jesus called them back to their first love.</a:t>
            </a:r>
            <a:endParaRPr b="0" i="0" sz="800" u="none" cap="none" strike="noStrike">
              <a:solidFill>
                <a:schemeClr val="dk1"/>
              </a:solidFill>
              <a:latin typeface="Calibri"/>
              <a:ea typeface="Calibri"/>
              <a:cs typeface="Calibri"/>
              <a:sym typeface="Calibri"/>
            </a:endParaRPr>
          </a:p>
        </p:txBody>
      </p:sp>
      <p:cxnSp>
        <p:nvCxnSpPr>
          <p:cNvPr id="231" name="Google Shape;231;p14"/>
          <p:cNvCxnSpPr/>
          <p:nvPr/>
        </p:nvCxnSpPr>
        <p:spPr>
          <a:xfrm>
            <a:off x="514350" y="4042693"/>
            <a:ext cx="8115300" cy="0"/>
          </a:xfrm>
          <a:prstGeom prst="straightConnector1">
            <a:avLst/>
          </a:prstGeom>
          <a:noFill/>
          <a:ln cap="flat" cmpd="sng" w="9525">
            <a:solidFill>
              <a:srgbClr val="E5E7EB"/>
            </a:solidFill>
            <a:prstDash val="solid"/>
            <a:round/>
            <a:headEnd len="sm" w="sm" type="none"/>
            <a:tailEnd len="sm" w="sm" type="none"/>
          </a:ln>
        </p:spPr>
      </p:cxnSp>
      <p:sp>
        <p:nvSpPr>
          <p:cNvPr id="232" name="Google Shape;232;p14"/>
          <p:cNvSpPr/>
          <p:nvPr/>
        </p:nvSpPr>
        <p:spPr>
          <a:xfrm>
            <a:off x="857250" y="4303440"/>
            <a:ext cx="7429500" cy="440010"/>
          </a:xfrm>
          <a:prstGeom prst="rect">
            <a:avLst/>
          </a:prstGeom>
          <a:noFill/>
          <a:ln>
            <a:noFill/>
          </a:ln>
        </p:spPr>
        <p:txBody>
          <a:bodyPr anchorCtr="0" anchor="t" bIns="0" lIns="0" spcFirstLastPara="1" rIns="0" wrap="square" tIns="0">
            <a:noAutofit/>
          </a:bodyPr>
          <a:lstStyle/>
          <a:p>
            <a:pPr indent="0" lvl="0" marL="0" marR="0" rtl="0" algn="ctr">
              <a:lnSpc>
                <a:spcPct val="139983"/>
              </a:lnSpc>
              <a:spcBef>
                <a:spcPts val="0"/>
              </a:spcBef>
              <a:spcAft>
                <a:spcPts val="0"/>
              </a:spcAft>
              <a:buClr>
                <a:srgbClr val="1A1A1A"/>
              </a:buClr>
              <a:buSzPts val="1238"/>
              <a:buFont typeface="Tinos"/>
              <a:buNone/>
            </a:pPr>
            <a:r>
              <a:rPr b="0" i="1" lang="en-US" sz="1238" u="none" cap="none" strike="noStrike">
                <a:solidFill>
                  <a:srgbClr val="1A1A1A"/>
                </a:solidFill>
                <a:latin typeface="Tinos"/>
                <a:ea typeface="Tinos"/>
                <a:cs typeface="Tinos"/>
                <a:sym typeface="Tinos"/>
              </a:rPr>
              <a:t>These stories are not identical. Yet they confirm a shared truth: God is not looking merely for activity, ability, or enthusiasm. He wants us to belong to Him, to be encountered by Him, and to be transformed by Him.</a:t>
            </a:r>
            <a:endParaRPr b="0" i="0" sz="1238"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5"/>
          <p:cNvSpPr/>
          <p:nvPr/>
        </p:nvSpPr>
        <p:spPr>
          <a:xfrm>
            <a:off x="514350" y="400050"/>
            <a:ext cx="8629650"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Arial"/>
              <a:buNone/>
            </a:pPr>
            <a:r>
              <a:rPr b="0" i="0" lang="en-US" sz="800" u="none" cap="none" strike="noStrike">
                <a:solidFill>
                  <a:srgbClr val="2B5BA8"/>
                </a:solidFill>
                <a:latin typeface="Arial"/>
                <a:ea typeface="Arial"/>
                <a:cs typeface="Arial"/>
                <a:sym typeface="Arial"/>
              </a:rPr>
              <a:t>THE CENTRAL VERSE · JOHN 15:5</a:t>
            </a:r>
            <a:endParaRPr b="0" i="0" sz="800" u="none" cap="none" strike="noStrike">
              <a:solidFill>
                <a:schemeClr val="dk1"/>
              </a:solidFill>
              <a:latin typeface="Calibri"/>
              <a:ea typeface="Calibri"/>
              <a:cs typeface="Calibri"/>
              <a:sym typeface="Calibri"/>
            </a:endParaRPr>
          </a:p>
        </p:txBody>
      </p:sp>
      <p:sp>
        <p:nvSpPr>
          <p:cNvPr id="239" name="Google Shape;239;p15"/>
          <p:cNvSpPr/>
          <p:nvPr/>
        </p:nvSpPr>
        <p:spPr>
          <a:xfrm>
            <a:off x="514350" y="700088"/>
            <a:ext cx="21431" cy="571500"/>
          </a:xfrm>
          <a:prstGeom prst="rect">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0" name="Google Shape;240;p15"/>
          <p:cNvSpPr/>
          <p:nvPr/>
        </p:nvSpPr>
        <p:spPr>
          <a:xfrm>
            <a:off x="692944" y="657225"/>
            <a:ext cx="7536656" cy="648081"/>
          </a:xfrm>
          <a:prstGeom prst="rect">
            <a:avLst/>
          </a:prstGeom>
          <a:noFill/>
          <a:ln>
            <a:noFill/>
          </a:ln>
        </p:spPr>
        <p:txBody>
          <a:bodyPr anchorCtr="0" anchor="t" bIns="0" lIns="0" spcFirstLastPara="1" rIns="0" wrap="square" tIns="0">
            <a:noAutofit/>
          </a:bodyPr>
          <a:lstStyle/>
          <a:p>
            <a:pPr indent="0" lvl="0" marL="0" marR="0" rtl="0" algn="l">
              <a:lnSpc>
                <a:spcPct val="140071"/>
              </a:lnSpc>
              <a:spcBef>
                <a:spcPts val="0"/>
              </a:spcBef>
              <a:spcAft>
                <a:spcPts val="0"/>
              </a:spcAft>
              <a:buClr>
                <a:srgbClr val="1A1A1A"/>
              </a:buClr>
              <a:buSzPts val="1687"/>
              <a:buFont typeface="Tinos"/>
              <a:buNone/>
            </a:pPr>
            <a:r>
              <a:rPr b="0" i="1" lang="en-US" sz="1688" u="none" cap="none" strike="noStrike">
                <a:solidFill>
                  <a:srgbClr val="1A1A1A"/>
                </a:solidFill>
                <a:latin typeface="Tinos"/>
                <a:ea typeface="Tinos"/>
                <a:cs typeface="Tinos"/>
                <a:sym typeface="Tinos"/>
              </a:rPr>
              <a:t>“I am the vine; you are the branches. Whoever remains in Me, and I in him, bears much fruit; for </a:t>
            </a:r>
            <a:r>
              <a:rPr b="0" i="1" lang="en-US" sz="1688" u="none" cap="none" strike="noStrike">
                <a:solidFill>
                  <a:srgbClr val="2B5BA8"/>
                </a:solidFill>
                <a:latin typeface="Tinos"/>
                <a:ea typeface="Tinos"/>
                <a:cs typeface="Tinos"/>
                <a:sym typeface="Tinos"/>
              </a:rPr>
              <a:t>apart from Me you can do nothing</a:t>
            </a:r>
            <a:r>
              <a:rPr b="0" i="1" lang="en-US" sz="1688" u="none" cap="none" strike="noStrike">
                <a:solidFill>
                  <a:srgbClr val="1A1A1A"/>
                </a:solidFill>
                <a:latin typeface="Tinos"/>
                <a:ea typeface="Tinos"/>
                <a:cs typeface="Tinos"/>
                <a:sym typeface="Tinos"/>
              </a:rPr>
              <a:t>.”</a:t>
            </a:r>
            <a:endParaRPr b="0" i="0" sz="1688" u="none" cap="none" strike="noStrike">
              <a:solidFill>
                <a:schemeClr val="dk1"/>
              </a:solidFill>
              <a:latin typeface="Calibri"/>
              <a:ea typeface="Calibri"/>
              <a:cs typeface="Calibri"/>
              <a:sym typeface="Calibri"/>
            </a:endParaRPr>
          </a:p>
        </p:txBody>
      </p:sp>
      <p:sp>
        <p:nvSpPr>
          <p:cNvPr id="241" name="Google Shape;241;p15"/>
          <p:cNvSpPr/>
          <p:nvPr/>
        </p:nvSpPr>
        <p:spPr>
          <a:xfrm>
            <a:off x="692944" y="1343025"/>
            <a:ext cx="8451056" cy="164592"/>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6B7280"/>
              </a:buClr>
              <a:buSzPts val="800"/>
              <a:buFont typeface="Arial"/>
              <a:buNone/>
            </a:pPr>
            <a:r>
              <a:rPr b="0" i="0" lang="en-US" sz="800" u="none" cap="none" strike="noStrike">
                <a:solidFill>
                  <a:srgbClr val="6B7280"/>
                </a:solidFill>
                <a:latin typeface="Arial"/>
                <a:ea typeface="Arial"/>
                <a:cs typeface="Arial"/>
                <a:sym typeface="Arial"/>
              </a:rPr>
              <a:t>JOHN 15:5</a:t>
            </a:r>
            <a:endParaRPr b="0" i="0" sz="800" u="none" cap="none" strike="noStrike">
              <a:solidFill>
                <a:schemeClr val="dk1"/>
              </a:solidFill>
              <a:latin typeface="Calibri"/>
              <a:ea typeface="Calibri"/>
              <a:cs typeface="Calibri"/>
              <a:sym typeface="Calibri"/>
            </a:endParaRPr>
          </a:p>
        </p:txBody>
      </p:sp>
      <p:cxnSp>
        <p:nvCxnSpPr>
          <p:cNvPr id="242" name="Google Shape;242;p15"/>
          <p:cNvCxnSpPr/>
          <p:nvPr/>
        </p:nvCxnSpPr>
        <p:spPr>
          <a:xfrm>
            <a:off x="514350" y="1671638"/>
            <a:ext cx="8115300" cy="0"/>
          </a:xfrm>
          <a:prstGeom prst="straightConnector1">
            <a:avLst/>
          </a:prstGeom>
          <a:noFill/>
          <a:ln cap="flat" cmpd="sng" w="9525">
            <a:solidFill>
              <a:srgbClr val="E5E7EB"/>
            </a:solidFill>
            <a:prstDash val="solid"/>
            <a:round/>
            <a:headEnd len="sm" w="sm" type="none"/>
            <a:tailEnd len="sm" w="sm" type="none"/>
          </a:ln>
        </p:spPr>
      </p:cxnSp>
      <p:sp>
        <p:nvSpPr>
          <p:cNvPr id="243" name="Google Shape;243;p15"/>
          <p:cNvSpPr/>
          <p:nvPr/>
        </p:nvSpPr>
        <p:spPr>
          <a:xfrm>
            <a:off x="1000125" y="1803797"/>
            <a:ext cx="7143750" cy="342900"/>
          </a:xfrm>
          <a:prstGeom prst="rect">
            <a:avLst/>
          </a:prstGeom>
          <a:noFill/>
          <a:ln>
            <a:noFill/>
          </a:ln>
        </p:spPr>
        <p:txBody>
          <a:bodyPr anchorCtr="0" anchor="t" bIns="0" lIns="0" spcFirstLastPara="1" rIns="0" wrap="square" tIns="0">
            <a:noAutofit/>
          </a:bodyPr>
          <a:lstStyle/>
          <a:p>
            <a:pPr indent="0" lvl="0" marL="0" marR="0" rtl="0" algn="ctr">
              <a:lnSpc>
                <a:spcPct val="160142"/>
              </a:lnSpc>
              <a:spcBef>
                <a:spcPts val="0"/>
              </a:spcBef>
              <a:spcAft>
                <a:spcPts val="0"/>
              </a:spcAft>
              <a:buClr>
                <a:srgbClr val="1A1A1A"/>
              </a:buClr>
              <a:buSzPts val="843"/>
              <a:buFont typeface="Carlito"/>
              <a:buNone/>
            </a:pPr>
            <a:r>
              <a:rPr b="0" i="0" lang="en-US" sz="844" u="none" cap="none" strike="noStrike">
                <a:solidFill>
                  <a:srgbClr val="1A1A1A"/>
                </a:solidFill>
                <a:latin typeface="Carlito"/>
                <a:ea typeface="Carlito"/>
                <a:cs typeface="Carlito"/>
                <a:sym typeface="Carlito"/>
              </a:rPr>
              <a:t>A branch does not bear fruit by straining to prove it is alive. It bears fruit because it remains connected to the source of life. We cannot replace abiding in Jesus with knowledge about Him, or activity for Him, or even a past encounter with Him.</a:t>
            </a:r>
            <a:endParaRPr b="0" i="0" sz="844" u="none" cap="none" strike="noStrike">
              <a:solidFill>
                <a:schemeClr val="dk1"/>
              </a:solidFill>
              <a:latin typeface="Calibri"/>
              <a:ea typeface="Calibri"/>
              <a:cs typeface="Calibri"/>
              <a:sym typeface="Calibri"/>
            </a:endParaRPr>
          </a:p>
        </p:txBody>
      </p:sp>
      <p:cxnSp>
        <p:nvCxnSpPr>
          <p:cNvPr id="244" name="Google Shape;244;p15"/>
          <p:cNvCxnSpPr/>
          <p:nvPr/>
        </p:nvCxnSpPr>
        <p:spPr>
          <a:xfrm>
            <a:off x="514350" y="4253099"/>
            <a:ext cx="8115300" cy="0"/>
          </a:xfrm>
          <a:prstGeom prst="straightConnector1">
            <a:avLst/>
          </a:prstGeom>
          <a:noFill/>
          <a:ln cap="flat" cmpd="sng" w="9525">
            <a:solidFill>
              <a:srgbClr val="E5E7EB"/>
            </a:solidFill>
            <a:prstDash val="solid"/>
            <a:round/>
            <a:headEnd len="sm" w="sm" type="none"/>
            <a:tailEnd len="sm" w="sm" type="none"/>
          </a:ln>
        </p:spPr>
      </p:cxnSp>
      <p:cxnSp>
        <p:nvCxnSpPr>
          <p:cNvPr id="245" name="Google Shape;245;p15"/>
          <p:cNvCxnSpPr/>
          <p:nvPr/>
        </p:nvCxnSpPr>
        <p:spPr>
          <a:xfrm>
            <a:off x="3215804" y="4413833"/>
            <a:ext cx="0" cy="329617"/>
          </a:xfrm>
          <a:prstGeom prst="straightConnector1">
            <a:avLst/>
          </a:prstGeom>
          <a:noFill/>
          <a:ln cap="flat" cmpd="sng" w="9525">
            <a:solidFill>
              <a:srgbClr val="E5E7EB"/>
            </a:solidFill>
            <a:prstDash val="solid"/>
            <a:round/>
            <a:headEnd len="sm" w="sm" type="none"/>
            <a:tailEnd len="sm" w="sm" type="none"/>
          </a:ln>
        </p:spPr>
      </p:cxnSp>
      <p:sp>
        <p:nvSpPr>
          <p:cNvPr id="246" name="Google Shape;246;p15"/>
          <p:cNvSpPr/>
          <p:nvPr/>
        </p:nvSpPr>
        <p:spPr>
          <a:xfrm>
            <a:off x="714375" y="4413833"/>
            <a:ext cx="2297832" cy="158306"/>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 · THROUGH HIS WORD</a:t>
            </a:r>
            <a:endParaRPr b="0" i="0" sz="800" u="none" cap="none" strike="noStrike">
              <a:solidFill>
                <a:schemeClr val="dk1"/>
              </a:solidFill>
              <a:latin typeface="Calibri"/>
              <a:ea typeface="Calibri"/>
              <a:cs typeface="Calibri"/>
              <a:sym typeface="Calibri"/>
            </a:endParaRPr>
          </a:p>
        </p:txBody>
      </p:sp>
      <p:sp>
        <p:nvSpPr>
          <p:cNvPr id="247" name="Google Shape;247;p15"/>
          <p:cNvSpPr/>
          <p:nvPr/>
        </p:nvSpPr>
        <p:spPr>
          <a:xfrm>
            <a:off x="714375" y="4599570"/>
            <a:ext cx="2297832" cy="143880"/>
          </a:xfrm>
          <a:prstGeom prst="rect">
            <a:avLst/>
          </a:prstGeom>
          <a:noFill/>
          <a:ln>
            <a:noFill/>
          </a:ln>
        </p:spPr>
        <p:txBody>
          <a:bodyPr anchorCtr="0" anchor="t" bIns="0" lIns="0" spcFirstLastPara="1" rIns="0" wrap="square" tIns="0">
            <a:noAutofit/>
          </a:bodyPr>
          <a:lstStyle/>
          <a:p>
            <a:pPr indent="0" lvl="0" marL="0" marR="0" rtl="0" algn="l">
              <a:lnSpc>
                <a:spcPct val="1416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He meets us in Scripture.</a:t>
            </a:r>
            <a:endParaRPr b="0" i="0" sz="800" u="none" cap="none" strike="noStrike">
              <a:solidFill>
                <a:schemeClr val="dk1"/>
              </a:solidFill>
              <a:latin typeface="Calibri"/>
              <a:ea typeface="Calibri"/>
              <a:cs typeface="Calibri"/>
              <a:sym typeface="Calibri"/>
            </a:endParaRPr>
          </a:p>
        </p:txBody>
      </p:sp>
      <p:cxnSp>
        <p:nvCxnSpPr>
          <p:cNvPr id="248" name="Google Shape;248;p15"/>
          <p:cNvCxnSpPr/>
          <p:nvPr/>
        </p:nvCxnSpPr>
        <p:spPr>
          <a:xfrm>
            <a:off x="5920941" y="4413833"/>
            <a:ext cx="0" cy="329617"/>
          </a:xfrm>
          <a:prstGeom prst="straightConnector1">
            <a:avLst/>
          </a:prstGeom>
          <a:noFill/>
          <a:ln cap="flat" cmpd="sng" w="9525">
            <a:solidFill>
              <a:srgbClr val="E5E7EB"/>
            </a:solidFill>
            <a:prstDash val="solid"/>
            <a:round/>
            <a:headEnd len="sm" w="sm" type="none"/>
            <a:tailEnd len="sm" w="sm" type="none"/>
          </a:ln>
        </p:spPr>
      </p:cxnSp>
      <p:sp>
        <p:nvSpPr>
          <p:cNvPr id="249" name="Google Shape;249;p15"/>
          <p:cNvSpPr/>
          <p:nvPr/>
        </p:nvSpPr>
        <p:spPr>
          <a:xfrm>
            <a:off x="3419401" y="4413833"/>
            <a:ext cx="2297943" cy="158306"/>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 · BY THE SPIRIT</a:t>
            </a:r>
            <a:endParaRPr b="0" i="0" sz="800" u="none" cap="none" strike="noStrike">
              <a:solidFill>
                <a:schemeClr val="dk1"/>
              </a:solidFill>
              <a:latin typeface="Calibri"/>
              <a:ea typeface="Calibri"/>
              <a:cs typeface="Calibri"/>
              <a:sym typeface="Calibri"/>
            </a:endParaRPr>
          </a:p>
        </p:txBody>
      </p:sp>
      <p:sp>
        <p:nvSpPr>
          <p:cNvPr id="250" name="Google Shape;250;p15"/>
          <p:cNvSpPr/>
          <p:nvPr/>
        </p:nvSpPr>
        <p:spPr>
          <a:xfrm>
            <a:off x="3419401" y="4599570"/>
            <a:ext cx="2297943" cy="143880"/>
          </a:xfrm>
          <a:prstGeom prst="rect">
            <a:avLst/>
          </a:prstGeom>
          <a:noFill/>
          <a:ln>
            <a:noFill/>
          </a:ln>
        </p:spPr>
        <p:txBody>
          <a:bodyPr anchorCtr="0" anchor="t" bIns="0" lIns="0" spcFirstLastPara="1" rIns="0" wrap="square" tIns="0">
            <a:noAutofit/>
          </a:bodyPr>
          <a:lstStyle/>
          <a:p>
            <a:pPr indent="0" lvl="0" marL="0" marR="0" rtl="0" algn="l">
              <a:lnSpc>
                <a:spcPct val="1416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He speaks to us today.</a:t>
            </a:r>
            <a:endParaRPr b="0" i="0" sz="800" u="none" cap="none" strike="noStrike">
              <a:solidFill>
                <a:schemeClr val="dk1"/>
              </a:solidFill>
              <a:latin typeface="Calibri"/>
              <a:ea typeface="Calibri"/>
              <a:cs typeface="Calibri"/>
              <a:sym typeface="Calibri"/>
            </a:endParaRPr>
          </a:p>
        </p:txBody>
      </p:sp>
      <p:sp>
        <p:nvSpPr>
          <p:cNvPr id="251" name="Google Shape;251;p15"/>
          <p:cNvSpPr/>
          <p:nvPr/>
        </p:nvSpPr>
        <p:spPr>
          <a:xfrm>
            <a:off x="6124538" y="4413833"/>
            <a:ext cx="2505112" cy="158306"/>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III · THROUGH HIS CHURCH</a:t>
            </a:r>
            <a:endParaRPr b="0" i="0" sz="800" u="none" cap="none" strike="noStrike">
              <a:solidFill>
                <a:schemeClr val="dk1"/>
              </a:solidFill>
              <a:latin typeface="Calibri"/>
              <a:ea typeface="Calibri"/>
              <a:cs typeface="Calibri"/>
              <a:sym typeface="Calibri"/>
            </a:endParaRPr>
          </a:p>
        </p:txBody>
      </p:sp>
      <p:sp>
        <p:nvSpPr>
          <p:cNvPr id="252" name="Google Shape;252;p15"/>
          <p:cNvSpPr/>
          <p:nvPr/>
        </p:nvSpPr>
        <p:spPr>
          <a:xfrm>
            <a:off x="6124538" y="4599570"/>
            <a:ext cx="2489374" cy="143880"/>
          </a:xfrm>
          <a:prstGeom prst="rect">
            <a:avLst/>
          </a:prstGeom>
          <a:noFill/>
          <a:ln>
            <a:noFill/>
          </a:ln>
        </p:spPr>
        <p:txBody>
          <a:bodyPr anchorCtr="0" anchor="t" bIns="0" lIns="0" spcFirstLastPara="1" rIns="0" wrap="square" tIns="0">
            <a:noAutofit/>
          </a:bodyPr>
          <a:lstStyle/>
          <a:p>
            <a:pPr indent="0" lvl="0" marL="0" marR="0" rtl="0" algn="l">
              <a:lnSpc>
                <a:spcPct val="141625"/>
              </a:lnSpc>
              <a:spcBef>
                <a:spcPts val="0"/>
              </a:spcBef>
              <a:spcAft>
                <a:spcPts val="0"/>
              </a:spcAft>
              <a:buClr>
                <a:srgbClr val="1A1A1A"/>
              </a:buClr>
              <a:buSzPts val="800"/>
              <a:buFont typeface="Carlito"/>
              <a:buNone/>
            </a:pPr>
            <a:r>
              <a:rPr b="0" i="0" lang="en-US" sz="800" u="none" cap="none" strike="noStrike">
                <a:solidFill>
                  <a:srgbClr val="1A1A1A"/>
                </a:solidFill>
                <a:latin typeface="Carlito"/>
                <a:ea typeface="Carlito"/>
                <a:cs typeface="Carlito"/>
                <a:sym typeface="Carlito"/>
              </a:rPr>
              <a:t>He sends “Ananiases” to stand beside us.</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6"/>
          <p:cNvSpPr/>
          <p:nvPr/>
        </p:nvSpPr>
        <p:spPr>
          <a:xfrm>
            <a:off x="514350" y="400050"/>
            <a:ext cx="8629650" cy="158306"/>
          </a:xfrm>
          <a:prstGeom prst="rect">
            <a:avLst/>
          </a:prstGeom>
          <a:noFill/>
          <a:ln>
            <a:noFill/>
          </a:ln>
        </p:spPr>
        <p:txBody>
          <a:bodyPr anchorCtr="0" anchor="t" bIns="0" lIns="0" spcFirstLastPara="1" rIns="0" wrap="square" tIns="0">
            <a:norm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AN INVITATION FOR TODAY</a:t>
            </a:r>
            <a:endParaRPr b="0" i="0" sz="800" u="none" cap="none" strike="noStrike">
              <a:solidFill>
                <a:schemeClr val="dk1"/>
              </a:solidFill>
              <a:latin typeface="Calibri"/>
              <a:ea typeface="Calibri"/>
              <a:cs typeface="Calibri"/>
              <a:sym typeface="Calibri"/>
            </a:endParaRPr>
          </a:p>
        </p:txBody>
      </p:sp>
      <p:sp>
        <p:nvSpPr>
          <p:cNvPr id="259" name="Google Shape;259;p16"/>
          <p:cNvSpPr/>
          <p:nvPr/>
        </p:nvSpPr>
        <p:spPr>
          <a:xfrm>
            <a:off x="514350" y="585788"/>
            <a:ext cx="8629650" cy="425785"/>
          </a:xfrm>
          <a:prstGeom prst="rect">
            <a:avLst/>
          </a:prstGeom>
          <a:noFill/>
          <a:ln>
            <a:noFill/>
          </a:ln>
        </p:spPr>
        <p:txBody>
          <a:bodyPr anchorCtr="0" anchor="t" bIns="0" lIns="0" spcFirstLastPara="1" rIns="0" wrap="square" tIns="0">
            <a:noAutofit/>
          </a:bodyPr>
          <a:lstStyle/>
          <a:p>
            <a:pPr indent="0" lvl="0" marL="0" marR="0" rtl="0" algn="l">
              <a:lnSpc>
                <a:spcPct val="119976"/>
              </a:lnSpc>
              <a:spcBef>
                <a:spcPts val="0"/>
              </a:spcBef>
              <a:spcAft>
                <a:spcPts val="0"/>
              </a:spcAft>
              <a:buClr>
                <a:srgbClr val="1A1A1A"/>
              </a:buClr>
              <a:buSzPts val="2588"/>
              <a:buFont typeface="Tinos"/>
              <a:buNone/>
            </a:pPr>
            <a:r>
              <a:rPr b="0" i="1" lang="en-US" sz="2588" u="none" cap="none" strike="noStrike">
                <a:solidFill>
                  <a:srgbClr val="1A1A1A"/>
                </a:solidFill>
                <a:latin typeface="Tinos"/>
                <a:ea typeface="Tinos"/>
                <a:cs typeface="Tinos"/>
                <a:sym typeface="Tinos"/>
              </a:rPr>
              <a:t>Where is Jesus meeting us today?</a:t>
            </a:r>
            <a:endParaRPr b="0" i="0" sz="2588" u="none" cap="none" strike="noStrike">
              <a:solidFill>
                <a:schemeClr val="dk1"/>
              </a:solidFill>
              <a:latin typeface="Calibri"/>
              <a:ea typeface="Calibri"/>
              <a:cs typeface="Calibri"/>
              <a:sym typeface="Calibri"/>
            </a:endParaRPr>
          </a:p>
        </p:txBody>
      </p:sp>
      <p:sp>
        <p:nvSpPr>
          <p:cNvPr id="260" name="Google Shape;260;p16"/>
          <p:cNvSpPr/>
          <p:nvPr/>
        </p:nvSpPr>
        <p:spPr>
          <a:xfrm>
            <a:off x="514350" y="1051471"/>
            <a:ext cx="7143750" cy="3949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6B7280"/>
              </a:buClr>
              <a:buSzPts val="900"/>
              <a:buFont typeface="Carlito"/>
              <a:buNone/>
            </a:pPr>
            <a:r>
              <a:rPr b="0" i="0" lang="en-US" sz="900" u="none" cap="none" strike="noStrike">
                <a:solidFill>
                  <a:srgbClr val="6B7280"/>
                </a:solidFill>
                <a:latin typeface="Carlito"/>
                <a:ea typeface="Carlito"/>
                <a:cs typeface="Carlito"/>
                <a:sym typeface="Carlito"/>
              </a:rPr>
              <a:t>We may not meet Him in a blinding light as Paul did. But the One who met him is still alive, and He still takes the initiative to enter people’s lives.</a:t>
            </a:r>
            <a:endParaRPr b="0" i="0" sz="900" u="none" cap="none" strike="noStrike">
              <a:solidFill>
                <a:schemeClr val="dk1"/>
              </a:solidFill>
              <a:latin typeface="Calibri"/>
              <a:ea typeface="Calibri"/>
              <a:cs typeface="Calibri"/>
              <a:sym typeface="Calibri"/>
            </a:endParaRPr>
          </a:p>
        </p:txBody>
      </p:sp>
      <p:cxnSp>
        <p:nvCxnSpPr>
          <p:cNvPr id="261" name="Google Shape;261;p16"/>
          <p:cNvCxnSpPr/>
          <p:nvPr/>
        </p:nvCxnSpPr>
        <p:spPr>
          <a:xfrm>
            <a:off x="514350" y="1577876"/>
            <a:ext cx="8115300" cy="0"/>
          </a:xfrm>
          <a:prstGeom prst="straightConnector1">
            <a:avLst/>
          </a:prstGeom>
          <a:noFill/>
          <a:ln cap="flat" cmpd="sng" w="9525">
            <a:solidFill>
              <a:srgbClr val="E5E7EB"/>
            </a:solidFill>
            <a:prstDash val="solid"/>
            <a:round/>
            <a:headEnd len="sm" w="sm" type="none"/>
            <a:tailEnd len="sm" w="sm" type="none"/>
          </a:ln>
        </p:spPr>
      </p:cxnSp>
      <p:sp>
        <p:nvSpPr>
          <p:cNvPr id="262" name="Google Shape;262;p16"/>
          <p:cNvSpPr/>
          <p:nvPr/>
        </p:nvSpPr>
        <p:spPr>
          <a:xfrm>
            <a:off x="514350" y="1717179"/>
            <a:ext cx="320040" cy="164306"/>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a:t>
            </a:r>
            <a:endParaRPr b="0" i="0" sz="800" u="none" cap="none" strike="noStrike">
              <a:solidFill>
                <a:schemeClr val="dk1"/>
              </a:solidFill>
              <a:latin typeface="Calibri"/>
              <a:ea typeface="Calibri"/>
              <a:cs typeface="Calibri"/>
              <a:sym typeface="Calibri"/>
            </a:endParaRPr>
          </a:p>
        </p:txBody>
      </p:sp>
      <p:sp>
        <p:nvSpPr>
          <p:cNvPr id="263" name="Google Shape;263;p16"/>
          <p:cNvSpPr/>
          <p:nvPr/>
        </p:nvSpPr>
        <p:spPr>
          <a:xfrm>
            <a:off x="885825" y="1681460"/>
            <a:ext cx="7743825" cy="2000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In the middle of a plan we are certain is right — asking whether we are truly listening to Him.</a:t>
            </a:r>
            <a:endParaRPr b="0" i="0" sz="1125" u="none" cap="none" strike="noStrike">
              <a:solidFill>
                <a:schemeClr val="dk1"/>
              </a:solidFill>
              <a:latin typeface="Calibri"/>
              <a:ea typeface="Calibri"/>
              <a:cs typeface="Calibri"/>
              <a:sym typeface="Calibri"/>
            </a:endParaRPr>
          </a:p>
        </p:txBody>
      </p:sp>
      <p:cxnSp>
        <p:nvCxnSpPr>
          <p:cNvPr id="264" name="Google Shape;264;p16"/>
          <p:cNvCxnSpPr/>
          <p:nvPr/>
        </p:nvCxnSpPr>
        <p:spPr>
          <a:xfrm>
            <a:off x="514350" y="1985070"/>
            <a:ext cx="8115300" cy="0"/>
          </a:xfrm>
          <a:prstGeom prst="straightConnector1">
            <a:avLst/>
          </a:prstGeom>
          <a:noFill/>
          <a:ln cap="flat" cmpd="sng" w="9525">
            <a:solidFill>
              <a:srgbClr val="E5E7EB"/>
            </a:solidFill>
            <a:prstDash val="solid"/>
            <a:round/>
            <a:headEnd len="sm" w="sm" type="none"/>
            <a:tailEnd len="sm" w="sm" type="none"/>
          </a:ln>
        </p:spPr>
      </p:cxnSp>
      <p:sp>
        <p:nvSpPr>
          <p:cNvPr id="265" name="Google Shape;265;p16"/>
          <p:cNvSpPr/>
          <p:nvPr/>
        </p:nvSpPr>
        <p:spPr>
          <a:xfrm>
            <a:off x="514350" y="2124373"/>
            <a:ext cx="320040" cy="164306"/>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a:t>
            </a:r>
            <a:endParaRPr b="0" i="0" sz="800" u="none" cap="none" strike="noStrike">
              <a:solidFill>
                <a:schemeClr val="dk1"/>
              </a:solidFill>
              <a:latin typeface="Calibri"/>
              <a:ea typeface="Calibri"/>
              <a:cs typeface="Calibri"/>
              <a:sym typeface="Calibri"/>
            </a:endParaRPr>
          </a:p>
        </p:txBody>
      </p:sp>
      <p:sp>
        <p:nvSpPr>
          <p:cNvPr id="266" name="Google Shape;266;p16"/>
          <p:cNvSpPr/>
          <p:nvPr/>
        </p:nvSpPr>
        <p:spPr>
          <a:xfrm>
            <a:off x="885825" y="2088654"/>
            <a:ext cx="7743825" cy="2000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In failure — not to condemn us, but to free us from confidence in ourselves.</a:t>
            </a:r>
            <a:endParaRPr b="0" i="0" sz="1125" u="none" cap="none" strike="noStrike">
              <a:solidFill>
                <a:schemeClr val="dk1"/>
              </a:solidFill>
              <a:latin typeface="Calibri"/>
              <a:ea typeface="Calibri"/>
              <a:cs typeface="Calibri"/>
              <a:sym typeface="Calibri"/>
            </a:endParaRPr>
          </a:p>
        </p:txBody>
      </p:sp>
      <p:cxnSp>
        <p:nvCxnSpPr>
          <p:cNvPr id="267" name="Google Shape;267;p16"/>
          <p:cNvCxnSpPr/>
          <p:nvPr/>
        </p:nvCxnSpPr>
        <p:spPr>
          <a:xfrm>
            <a:off x="514350" y="2392263"/>
            <a:ext cx="8115300" cy="0"/>
          </a:xfrm>
          <a:prstGeom prst="straightConnector1">
            <a:avLst/>
          </a:prstGeom>
          <a:noFill/>
          <a:ln cap="flat" cmpd="sng" w="9525">
            <a:solidFill>
              <a:srgbClr val="E5E7EB"/>
            </a:solidFill>
            <a:prstDash val="solid"/>
            <a:round/>
            <a:headEnd len="sm" w="sm" type="none"/>
            <a:tailEnd len="sm" w="sm" type="none"/>
          </a:ln>
        </p:spPr>
      </p:cxnSp>
      <p:sp>
        <p:nvSpPr>
          <p:cNvPr id="268" name="Google Shape;268;p16"/>
          <p:cNvSpPr/>
          <p:nvPr/>
        </p:nvSpPr>
        <p:spPr>
          <a:xfrm>
            <a:off x="514350" y="2531566"/>
            <a:ext cx="320040" cy="164306"/>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III</a:t>
            </a:r>
            <a:endParaRPr b="0" i="0" sz="800" u="none" cap="none" strike="noStrike">
              <a:solidFill>
                <a:schemeClr val="dk1"/>
              </a:solidFill>
              <a:latin typeface="Calibri"/>
              <a:ea typeface="Calibri"/>
              <a:cs typeface="Calibri"/>
              <a:sym typeface="Calibri"/>
            </a:endParaRPr>
          </a:p>
        </p:txBody>
      </p:sp>
      <p:sp>
        <p:nvSpPr>
          <p:cNvPr id="269" name="Google Shape;269;p16"/>
          <p:cNvSpPr/>
          <p:nvPr/>
        </p:nvSpPr>
        <p:spPr>
          <a:xfrm>
            <a:off x="885825" y="2495848"/>
            <a:ext cx="7743825" cy="2000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Through an “Ananias” — bringing healing, encouragement, and a way back into community.</a:t>
            </a:r>
            <a:endParaRPr b="0" i="0" sz="1125" u="none" cap="none" strike="noStrike">
              <a:solidFill>
                <a:schemeClr val="dk1"/>
              </a:solidFill>
              <a:latin typeface="Calibri"/>
              <a:ea typeface="Calibri"/>
              <a:cs typeface="Calibri"/>
              <a:sym typeface="Calibri"/>
            </a:endParaRPr>
          </a:p>
        </p:txBody>
      </p:sp>
      <p:cxnSp>
        <p:nvCxnSpPr>
          <p:cNvPr id="270" name="Google Shape;270;p16"/>
          <p:cNvCxnSpPr/>
          <p:nvPr/>
        </p:nvCxnSpPr>
        <p:spPr>
          <a:xfrm>
            <a:off x="514350" y="2799457"/>
            <a:ext cx="8115300" cy="0"/>
          </a:xfrm>
          <a:prstGeom prst="straightConnector1">
            <a:avLst/>
          </a:prstGeom>
          <a:noFill/>
          <a:ln cap="flat" cmpd="sng" w="9525">
            <a:solidFill>
              <a:srgbClr val="E5E7EB"/>
            </a:solidFill>
            <a:prstDash val="solid"/>
            <a:round/>
            <a:headEnd len="sm" w="sm" type="none"/>
            <a:tailEnd len="sm" w="sm" type="none"/>
          </a:ln>
        </p:spPr>
      </p:cxnSp>
      <p:cxnSp>
        <p:nvCxnSpPr>
          <p:cNvPr id="271" name="Google Shape;271;p16"/>
          <p:cNvCxnSpPr/>
          <p:nvPr/>
        </p:nvCxnSpPr>
        <p:spPr>
          <a:xfrm>
            <a:off x="514350" y="3206651"/>
            <a:ext cx="8115300" cy="0"/>
          </a:xfrm>
          <a:prstGeom prst="straightConnector1">
            <a:avLst/>
          </a:prstGeom>
          <a:noFill/>
          <a:ln cap="flat" cmpd="sng" w="9525">
            <a:solidFill>
              <a:srgbClr val="E5E7EB"/>
            </a:solidFill>
            <a:prstDash val="solid"/>
            <a:round/>
            <a:headEnd len="sm" w="sm" type="none"/>
            <a:tailEnd len="sm" w="sm" type="none"/>
          </a:ln>
        </p:spPr>
      </p:cxnSp>
      <p:sp>
        <p:nvSpPr>
          <p:cNvPr id="272" name="Google Shape;272;p16"/>
          <p:cNvSpPr/>
          <p:nvPr/>
        </p:nvSpPr>
        <p:spPr>
          <a:xfrm>
            <a:off x="514350" y="2938760"/>
            <a:ext cx="320040" cy="164306"/>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IV</a:t>
            </a:r>
            <a:endParaRPr b="0" i="0" sz="800" u="none" cap="none" strike="noStrike">
              <a:solidFill>
                <a:schemeClr val="dk1"/>
              </a:solidFill>
              <a:latin typeface="Calibri"/>
              <a:ea typeface="Calibri"/>
              <a:cs typeface="Calibri"/>
              <a:sym typeface="Calibri"/>
            </a:endParaRPr>
          </a:p>
        </p:txBody>
      </p:sp>
      <p:sp>
        <p:nvSpPr>
          <p:cNvPr id="273" name="Google Shape;273;p16"/>
          <p:cNvSpPr/>
          <p:nvPr/>
        </p:nvSpPr>
        <p:spPr>
          <a:xfrm>
            <a:off x="885825" y="2903041"/>
            <a:ext cx="7743825" cy="2000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125"/>
              <a:buFont typeface="Tinos"/>
              <a:buNone/>
            </a:pPr>
            <a:r>
              <a:rPr b="0" i="1" lang="en-US" sz="1125" u="none" cap="none" strike="noStrike">
                <a:solidFill>
                  <a:srgbClr val="1A1A1A"/>
                </a:solidFill>
                <a:latin typeface="Tinos"/>
                <a:ea typeface="Tinos"/>
                <a:cs typeface="Tinos"/>
                <a:sym typeface="Tinos"/>
              </a:rPr>
              <a:t>In long service slowly becoming facts, habits, and responsibilities — no longer friendship with a living Friend.</a:t>
            </a:r>
            <a:endParaRPr b="0" i="0" sz="1125" u="none" cap="none" strike="noStrike">
              <a:solidFill>
                <a:schemeClr val="dk1"/>
              </a:solidFill>
              <a:latin typeface="Calibri"/>
              <a:ea typeface="Calibri"/>
              <a:cs typeface="Calibri"/>
              <a:sym typeface="Calibri"/>
            </a:endParaRPr>
          </a:p>
        </p:txBody>
      </p:sp>
      <p:cxnSp>
        <p:nvCxnSpPr>
          <p:cNvPr id="274" name="Google Shape;274;p16"/>
          <p:cNvCxnSpPr/>
          <p:nvPr/>
        </p:nvCxnSpPr>
        <p:spPr>
          <a:xfrm>
            <a:off x="514350" y="3931965"/>
            <a:ext cx="8115300" cy="0"/>
          </a:xfrm>
          <a:prstGeom prst="straightConnector1">
            <a:avLst/>
          </a:prstGeom>
          <a:noFill/>
          <a:ln cap="flat" cmpd="sng" w="9525">
            <a:solidFill>
              <a:srgbClr val="E5E7EB"/>
            </a:solidFill>
            <a:prstDash val="solid"/>
            <a:round/>
            <a:headEnd len="sm" w="sm" type="none"/>
            <a:tailEnd len="sm" w="sm" type="none"/>
          </a:ln>
        </p:spPr>
      </p:cxnSp>
      <p:sp>
        <p:nvSpPr>
          <p:cNvPr id="275" name="Google Shape;275;p16"/>
          <p:cNvSpPr/>
          <p:nvPr/>
        </p:nvSpPr>
        <p:spPr>
          <a:xfrm>
            <a:off x="514350" y="4135562"/>
            <a:ext cx="42863" cy="42863"/>
          </a:xfrm>
          <a:prstGeom prst="roundRect">
            <a:avLst>
              <a:gd fmla="val 22199741" name="adj"/>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6" name="Google Shape;276;p16"/>
          <p:cNvSpPr/>
          <p:nvPr/>
        </p:nvSpPr>
        <p:spPr>
          <a:xfrm>
            <a:off x="642938" y="4064124"/>
            <a:ext cx="3729038" cy="475211"/>
          </a:xfrm>
          <a:prstGeom prst="rect">
            <a:avLst/>
          </a:prstGeom>
          <a:noFill/>
          <a:ln>
            <a:noFill/>
          </a:ln>
        </p:spPr>
        <p:txBody>
          <a:bodyPr anchorCtr="0" anchor="t" bIns="0" lIns="0" spcFirstLastPara="1" rIns="0" wrap="square" tIns="0">
            <a:noAutofit/>
          </a:bodyPr>
          <a:lstStyle/>
          <a:p>
            <a:pPr indent="0" lvl="0" marL="0" marR="0" rtl="0" algn="l">
              <a:lnSpc>
                <a:spcPct val="139983"/>
              </a:lnSpc>
              <a:spcBef>
                <a:spcPts val="0"/>
              </a:spcBef>
              <a:spcAft>
                <a:spcPts val="0"/>
              </a:spcAft>
              <a:buClr>
                <a:srgbClr val="1A1A1A"/>
              </a:buClr>
              <a:buSzPts val="1238"/>
              <a:buFont typeface="Tinos"/>
              <a:buNone/>
            </a:pPr>
            <a:r>
              <a:rPr b="0" i="1" lang="en-US" sz="1238" u="none" cap="none" strike="noStrike">
                <a:solidFill>
                  <a:srgbClr val="1A1A1A"/>
                </a:solidFill>
                <a:latin typeface="Tinos"/>
                <a:ea typeface="Tinos"/>
                <a:cs typeface="Tinos"/>
                <a:sym typeface="Tinos"/>
              </a:rPr>
              <a:t>“Do I know Him? Am I listening to Him and walking with Him?”</a:t>
            </a:r>
            <a:endParaRPr b="0" i="0" sz="1238" u="none" cap="none" strike="noStrike">
              <a:solidFill>
                <a:schemeClr val="dk1"/>
              </a:solidFill>
              <a:latin typeface="Calibri"/>
              <a:ea typeface="Calibri"/>
              <a:cs typeface="Calibri"/>
              <a:sym typeface="Calibri"/>
            </a:endParaRPr>
          </a:p>
        </p:txBody>
      </p:sp>
      <p:cxnSp>
        <p:nvCxnSpPr>
          <p:cNvPr id="277" name="Google Shape;277;p16"/>
          <p:cNvCxnSpPr/>
          <p:nvPr/>
        </p:nvCxnSpPr>
        <p:spPr>
          <a:xfrm>
            <a:off x="4575572" y="4064124"/>
            <a:ext cx="0" cy="440010"/>
          </a:xfrm>
          <a:prstGeom prst="straightConnector1">
            <a:avLst/>
          </a:prstGeom>
          <a:noFill/>
          <a:ln cap="flat" cmpd="sng" w="9525">
            <a:solidFill>
              <a:srgbClr val="E5E7EB"/>
            </a:solidFill>
            <a:prstDash val="solid"/>
            <a:round/>
            <a:headEnd len="sm" w="sm" type="none"/>
            <a:tailEnd len="sm" w="sm" type="none"/>
          </a:ln>
        </p:spPr>
      </p:cxnSp>
      <p:sp>
        <p:nvSpPr>
          <p:cNvPr id="278" name="Google Shape;278;p16"/>
          <p:cNvSpPr/>
          <p:nvPr/>
        </p:nvSpPr>
        <p:spPr>
          <a:xfrm>
            <a:off x="4779169" y="4135562"/>
            <a:ext cx="42863" cy="42863"/>
          </a:xfrm>
          <a:prstGeom prst="roundRect">
            <a:avLst>
              <a:gd fmla="val 22199741" name="adj"/>
            </a:avLst>
          </a:prstGeom>
          <a:solidFill>
            <a:srgbClr val="2B5BA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9" name="Google Shape;279;p16"/>
          <p:cNvSpPr/>
          <p:nvPr/>
        </p:nvSpPr>
        <p:spPr>
          <a:xfrm>
            <a:off x="4907756" y="4064124"/>
            <a:ext cx="3721894" cy="237606"/>
          </a:xfrm>
          <a:prstGeom prst="rect">
            <a:avLst/>
          </a:prstGeom>
          <a:noFill/>
          <a:ln>
            <a:noFill/>
          </a:ln>
        </p:spPr>
        <p:txBody>
          <a:bodyPr anchorCtr="0" anchor="t" bIns="0" lIns="0" spcFirstLastPara="1" rIns="0" wrap="square" tIns="0">
            <a:noAutofit/>
          </a:bodyPr>
          <a:lstStyle/>
          <a:p>
            <a:pPr indent="0" lvl="0" marL="0" marR="0" rtl="0" algn="l">
              <a:lnSpc>
                <a:spcPct val="139983"/>
              </a:lnSpc>
              <a:spcBef>
                <a:spcPts val="0"/>
              </a:spcBef>
              <a:spcAft>
                <a:spcPts val="0"/>
              </a:spcAft>
              <a:buClr>
                <a:srgbClr val="1A1A1A"/>
              </a:buClr>
              <a:buSzPts val="1238"/>
              <a:buFont typeface="Tinos"/>
              <a:buNone/>
            </a:pPr>
            <a:r>
              <a:rPr b="0" i="1" lang="en-US" sz="1238" u="none" cap="none" strike="noStrike">
                <a:solidFill>
                  <a:srgbClr val="1A1A1A"/>
                </a:solidFill>
                <a:latin typeface="Tinos"/>
                <a:ea typeface="Tinos"/>
                <a:cs typeface="Tinos"/>
                <a:sym typeface="Tinos"/>
              </a:rPr>
              <a:t>“What does God want to transform in me?”</a:t>
            </a:r>
            <a:endParaRPr b="0" i="0" sz="1238" u="none" cap="none" strike="noStrike">
              <a:solidFill>
                <a:schemeClr val="dk1"/>
              </a:solidFill>
              <a:latin typeface="Calibri"/>
              <a:ea typeface="Calibri"/>
              <a:cs typeface="Calibri"/>
              <a:sym typeface="Calibri"/>
            </a:endParaRPr>
          </a:p>
        </p:txBody>
      </p:sp>
      <p:sp>
        <p:nvSpPr>
          <p:cNvPr id="280" name="Google Shape;280;p16"/>
          <p:cNvSpPr/>
          <p:nvPr/>
        </p:nvSpPr>
        <p:spPr>
          <a:xfrm>
            <a:off x="7837160" y="4604147"/>
            <a:ext cx="825622" cy="139303"/>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2B5BA8"/>
              </a:buClr>
              <a:buSzPts val="800"/>
              <a:buFont typeface="Carlito"/>
              <a:buNone/>
            </a:pPr>
            <a:r>
              <a:rPr b="0" i="0" lang="en-US" sz="800" u="none" cap="none" strike="noStrike">
                <a:solidFill>
                  <a:srgbClr val="2B5BA8"/>
                </a:solidFill>
                <a:latin typeface="Carlito"/>
                <a:ea typeface="Carlito"/>
                <a:cs typeface="Carlito"/>
                <a:sym typeface="Carlito"/>
              </a:rPr>
              <a:t>LET US PRAY.</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2026-08-09T06:15:28Z</dcterms:created>
  <dc:creator>PptxGenJS</dc:creator>
</cp:coreProperties>
</file>